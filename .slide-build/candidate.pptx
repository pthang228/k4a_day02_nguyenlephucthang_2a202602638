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682bbaf5f14404" /><Relationship Type="http://schemas.openxmlformats.org/officeDocument/2006/relationships/extended-properties" Target="/docProps/app.xml" Id="R826c52f97ea94350" /><Relationship Type="http://schemas.openxmlformats.org/officeDocument/2006/relationships/officeDocument" Target="/ppt/presentation.xml" Id="Rc236978b4cb147bc" /></Relationships>
</file>

<file path=ppt/presentation.xml><?xml version="1.0" encoding="utf-8"?>
<p:presentation xmlns:p="http://schemas.openxmlformats.org/presentationml/2006/main">
  <p:sldMasterIdLst>
    <p:sldMasterId xmlns:r="http://schemas.openxmlformats.org/officeDocument/2006/relationships" id="2147483648" r:id="R49dce9653f664664"/>
  </p:sldMasterIdLst>
  <p:notesMasterIdLst>
    <p:notesMasterId xmlns:r="http://schemas.openxmlformats.org/officeDocument/2006/relationships" r:id="Rc16edb6c459d4133"/>
  </p:notesMasterIdLst>
  <p:sldIdLst>
    <p:sldId xmlns:r="http://schemas.openxmlformats.org/officeDocument/2006/relationships" id="256" r:id="Rb3701ee7eaed4466"/>
    <p:sldId xmlns:r="http://schemas.openxmlformats.org/officeDocument/2006/relationships" id="257" r:id="R9db761a332734f3f"/>
    <p:sldId xmlns:r="http://schemas.openxmlformats.org/officeDocument/2006/relationships" id="258" r:id="R568b454c91354e9e"/>
    <p:sldId xmlns:r="http://schemas.openxmlformats.org/officeDocument/2006/relationships" id="259" r:id="R7313d0c3be3542e6"/>
    <p:sldId xmlns:r="http://schemas.openxmlformats.org/officeDocument/2006/relationships" id="260" r:id="R5dea0db186224a72"/>
    <p:sldId xmlns:r="http://schemas.openxmlformats.org/officeDocument/2006/relationships" id="261" r:id="Ra2f45b95219b4c2c"/>
    <p:sldId xmlns:r="http://schemas.openxmlformats.org/officeDocument/2006/relationships" id="262" r:id="Rf81b1afcc5154078"/>
    <p:sldId xmlns:r="http://schemas.openxmlformats.org/officeDocument/2006/relationships" id="263" r:id="R2dbcb815ebbb48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0bc972975d46bc" /><Relationship Type="http://schemas.openxmlformats.org/officeDocument/2006/relationships/slideMaster" Target="/ppt/slideMasters/slideMaster1.xml" Id="R49dce9653f664664" /><Relationship Type="http://schemas.openxmlformats.org/officeDocument/2006/relationships/notesMaster" Target="/ppt/notesMasters/notesMaster1.xml" Id="Rc16edb6c459d4133" /><Relationship Type="http://schemas.openxmlformats.org/officeDocument/2006/relationships/presProps" Target="/ppt/presProps.xml" Id="R80a04a88be2346f7" /><Relationship Type="http://schemas.openxmlformats.org/officeDocument/2006/relationships/tableStyles" Target="/ppt/tableStyles.xml" Id="Ra9b9b4c489ff4d7e" /><Relationship Type="http://schemas.openxmlformats.org/officeDocument/2006/relationships/slide" Target="/ppt/slides/slide1.xml" Id="Rb3701ee7eaed4466" /><Relationship Type="http://schemas.openxmlformats.org/officeDocument/2006/relationships/slide" Target="/ppt/slides/slide2.xml" Id="R9db761a332734f3f" /><Relationship Type="http://schemas.openxmlformats.org/officeDocument/2006/relationships/slide" Target="/ppt/slides/slide3.xml" Id="R568b454c91354e9e" /><Relationship Type="http://schemas.openxmlformats.org/officeDocument/2006/relationships/slide" Target="/ppt/slides/slide4.xml" Id="R7313d0c3be3542e6" /><Relationship Type="http://schemas.openxmlformats.org/officeDocument/2006/relationships/slide" Target="/ppt/slides/slide5.xml" Id="R5dea0db186224a72" /><Relationship Type="http://schemas.openxmlformats.org/officeDocument/2006/relationships/slide" Target="/ppt/slides/slide6.xml" Id="Ra2f45b95219b4c2c" /><Relationship Type="http://schemas.openxmlformats.org/officeDocument/2006/relationships/slide" Target="/ppt/slides/slide7.xml" Id="Rf81b1afcc5154078" /><Relationship Type="http://schemas.openxmlformats.org/officeDocument/2006/relationships/slide" Target="/ppt/slides/slide8.xml" Id="R2dbcb815ebbb48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cc056e0d2b4c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b05c9d0b3143c0" /><Relationship Type="http://schemas.openxmlformats.org/officeDocument/2006/relationships/notesMaster" Target="/ppt/notesMasters/notesMaster1.xml" Id="R2d720f854ce941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bbaf60ef514f00" /><Relationship Type="http://schemas.openxmlformats.org/officeDocument/2006/relationships/notesMaster" Target="/ppt/notesMasters/notesMaster1.xml" Id="Ref4f9b04425d45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40885bc4ff4b4d" /><Relationship Type="http://schemas.openxmlformats.org/officeDocument/2006/relationships/notesMaster" Target="/ppt/notesMasters/notesMaster1.xml" Id="Rebc809c287c04e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1e42a186e84a3d" /><Relationship Type="http://schemas.openxmlformats.org/officeDocument/2006/relationships/notesMaster" Target="/ppt/notesMasters/notesMaster1.xml" Id="R4b61620794d649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1ae9b6d77a4138" /><Relationship Type="http://schemas.openxmlformats.org/officeDocument/2006/relationships/notesMaster" Target="/ppt/notesMasters/notesMaster1.xml" Id="Rf503e375cf9943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225d9b9d5143b8" /><Relationship Type="http://schemas.openxmlformats.org/officeDocument/2006/relationships/notesMaster" Target="/ppt/notesMasters/notesMaster1.xml" Id="R91c0fac0db0046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1b8a5711774536" /><Relationship Type="http://schemas.openxmlformats.org/officeDocument/2006/relationships/notesMaster" Target="/ppt/notesMasters/notesMaster1.xml" Id="R5e7ba2de0e664c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f14d051b474dcf" /><Relationship Type="http://schemas.openxmlformats.org/officeDocument/2006/relationships/notesMaster" Target="/ppt/notesMasters/notesMaster1.xml" Id="Rec11aac3eaae4c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nhóm phân tích pain point của ERP Engineer phải viết lại dữ liệu công việc thành báo cáo cho quản lý. Trình bày theo mạch chọn vấn đề, workflow, giải pháp, validation và quyết định. Nhấn mạnh đây là đề xuất thử nghiệm, chưa có kết quả triển khai.</a:t>
            </a:r>
          </a:p>
          <a:p xmlns:a="http://schemas.openxmlformats.org/drawingml/2006/main">
            <a:r>
              <a:t/>
            </a:r>
          </a:p>
          <a:p xmlns:a="http://schemas.openxmlformats.org/drawingml/2006/main">
            <a:r>
              <a:t>Nguồn: 02-group-problem-statement/group-report.md, phần 3–6. Card #1 của Trang Phước Hoàng Minh tại origin/TrangPhuocHoangMinh_02690, 01-individual-problem-scan/individual-report.md. Các thời gian hiện tại là ước lượng tự báo cáo, chưa đo trong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tổng hợp top 3 từ 5 individual report. Bảng này chỉ nêu một candidate nổi bật của mỗi thành viên, không phải tất cả card muốn pitch. Nhóm lấy monthly report theo định hướng trưởng nhóm. Không kết luận monthly có impact lớn nhất: các ước lượng theo tuần/tháng cần quy đổi cùng đơn vị trước khi so sánh. Tên Bùi Trọng Trịnh dùng theo bảng thành viên hiện tại trong group report. Điểm shortlist trong tài liệu không được trình bày như một cuộc bỏ phiếu đã xác nhận.</a:t>
            </a:r>
          </a:p>
          <a:p xmlns:a="http://schemas.openxmlformats.org/drawingml/2006/main">
            <a:r>
              <a:t/>
            </a:r>
          </a:p>
          <a:p xmlns:a="http://schemas.openxmlformats.org/drawingml/2006/main">
            <a:r>
              <a:t>Nguồn: 02-group-problem-statement/group-report.md, phần 3–6. Card #1 của Trang Phước Hoàng Minh tại origin/TrangPhuocHoangMinh_02690, 01-individual-problem-scan/individual-report.md. Các thời gian hiện tại là ước lượng tự báo cáo, chưa đo trong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các bước theo số thứ tự từ 1 đến 6. Tổng 20 + 25 + 40 + 70 + 15 + 10 = 180 phút, là phân rã ước lượng từ nguồn cá nhân. Hai bước đối chiếu và viết chiếm 110 phút, phù hợp khoảng bottleneck 90–120 phút trong Problem Card. Không dùng số commit để kết luận task hoàn tất hoặc giá trị kinh doanh đã tạo ra.</a:t>
            </a:r>
          </a:p>
          <a:p xmlns:a="http://schemas.openxmlformats.org/drawingml/2006/main">
            <a:r>
              <a:t/>
            </a:r>
          </a:p>
          <a:p xmlns:a="http://schemas.openxmlformats.org/drawingml/2006/main">
            <a:r>
              <a:t>Nguồn: 02-group-problem-statement/group-report.md, phần 3–6. Card #1 của Trang Phước Hoàng Minh tại origin/TrangPhuocHoangMinh_02690, 01-individual-problem-scan/individual-report.md. Các thời gian hiện tại là ước lượng tự báo cáo, chưa đo trong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dự kiến hỏi lần gần nhất làm báo cáo, workflow thực tế, bước khó nhất, thời gian từng bước và yêu cầu đầu ra. Người dự kiến phỏng vấn gồm Hoàng Minh, người nhận monthly report và đồng nghiệp có làm báo cáo tương tự, tùy khả năng tiếp cận. Ghi cả ý kiến phản bác như thời gian thấp hơn ước lượng hoặc quản lý chấp nhận template đơn giản. Chưa phỏng vấn ai nên không trình bày quote hay số mẫu giả. Hai báo cáo từ bối cảnh khác không xác nhận trực tiếp nhu cầu của quản lý ERP.</a:t>
            </a:r>
          </a:p>
          <a:p xmlns:a="http://schemas.openxmlformats.org/drawingml/2006/main">
            <a:r>
              <a:t/>
            </a:r>
          </a:p>
          <a:p xmlns:a="http://schemas.openxmlformats.org/drawingml/2006/main">
            <a:r>
              <a:t>Nguồn: 02-group-problem-statement/group-report.md, phần 3–6. Card #1 của Trang Phước Hoàng Minh tại origin/TrangPhuocHoangMinh_02690, 01-individual-problem-scan/individual-report.md. Các thời gian hiện tại là ước lượng tự báo cáo, chưa đo trong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can thiệp sau bước chuẩn hóa, trước bước người viết duyệt nội dung. Bước chuẩn bị gồm chọn kỳ báo cáo và loại thông tin nhạy cảm theo quyền sử dụng. Rule ghép bằng task ID chỉ khi có khóa rõ ràng, engineer xử lý nguồn mâu thuẫn. Không suy luận commit tồn tại đồng nghĩa hoàn tất, triển khai hoặc có hiệu quả kinh doanh. Những kết luận về ảnh hưởng hay việc tiếp theo cần nguồn hoặc xác nhận của engineer. Giữ bước copy Excel/phiếu trong future workflow để so sánh cùng phạm vi. Nếu AI sai hoặc thiếu nguồn, dừng sử dụng draft và viết tay từ template.</a:t>
            </a:r>
          </a:p>
          <a:p xmlns:a="http://schemas.openxmlformats.org/drawingml/2006/main">
            <a:r>
              <a:t/>
            </a:r>
          </a:p>
          <a:p xmlns:a="http://schemas.openxmlformats.org/drawingml/2006/main">
            <a:r>
              <a:t>Nguồn: 02-group-problem-statement/group-report.md, phần 3–6. Card #1 của Trang Phước Hoàng Minh tại origin/TrangPhuocHoangMinh_02690, 01-individual-problem-scan/individual-report.md. Các thời gian hiện tại là ước lượng tự báo cáo, chưa đo trong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phương án: group report phần 6.1 và Non-AI alternative trong Card #1 của Hoàng Minh. Đây là so sánh thiết kế, chưa phải kết quả benchmark. Template có thể đủ, nên không mặc định AI cần thiết. Nếu thao tác copy hoặc chuẩn hóa mới là bottleneck thì ưu tiên sửa quy trình. Research tham khảo trong group report có GitHub Projects và Jira Automation, nhưng việc sản phẩm có tính năng không xác nhận chúng tiết kiệm thời gian trong trường hợp nhóm.</a:t>
            </a:r>
          </a:p>
          <a:p xmlns:a="http://schemas.openxmlformats.org/drawingml/2006/main">
            <a:r>
              <a:t/>
            </a:r>
          </a:p>
          <a:p xmlns:a="http://schemas.openxmlformats.org/drawingml/2006/main">
            <a:r>
              <a:t>Nguồn: 02-group-problem-statement/group-report.md, phần 3–6. Card #1 của Trang Phước Hoàng Minh tại origin/TrangPhuocHoangMinh_02690, 01-individual-problem-scan/individual-report.md. Các thời gian hiện tại là ước lượng tự báo cáo, chưa đo trong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bộ tháng gồm toàn bộ weekly report và commit/PR liên quan, tránh bỏ tuần giao tháng. Chốt danh sách task quan trọng và tiêu chí đúng trước khi chạy. Có thể đổi thứ tự thử: tháng A template trước, tháng B AI trước, để giảm ảnh hưởng quen dữ liệu. Bấm giờ toàn bộ thao tác lặp lại, ghi thời gian thiết lập ban đầu riêng và ghi thời gian chờ riêng. Ghi lỗi trên draft và bản cuối để thấy công review. Câu hỏi làm rõ chỉ đếm nội dung sai/thiếu theo cùng rubric, không tính câu hỏi mở rộng ngoài phạm vi. Nếu chưa có người nhận hoặc reviewer tương đương thì chỉ số này chưa đánh giá, không ghi bằng 0. Hai tháng là thử nghiệm nhỏ, chưa đủ khái quát. Mục tiêu dưới 45 phút là giả thuyết trong Card #1, chưa đạt trong thực tế.</a:t>
            </a:r>
          </a:p>
          <a:p xmlns:a="http://schemas.openxmlformats.org/drawingml/2006/main">
            <a:r>
              <a:t/>
            </a:r>
          </a:p>
          <a:p xmlns:a="http://schemas.openxmlformats.org/drawingml/2006/main">
            <a:r>
              <a:t>Nguồn: 02-group-problem-statement/group-report.md, phần 3–6. Card #1 của Trang Phước Hoàng Minh tại origin/TrangPhuocHoangMinh_02690, 01-individual-problem-scan/individual-report.md. Các thời gian hiện tại là ước lượng tự báo cáo, chưa đo trong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Quyết định là Go cho việc chuẩn bị và thử nghiệm nhỏ. Trước khi chạy dữ liệu thực, cần xác nhận quyền sử dụng, bộ input và người review. Nhóm chưa có kết quả pilot hoặc bằng chứng tất cả thành viên đã nhận việc nên ghi phân công dự kiến. Nguồn phân công: 02-group-problem-statement/group-contribution-plan.md. Nếu AI draft không có nguồn, cần bỏ hoặc sửa trước khi dùng. Group report đề xuất rollback khi phải viết lại trên 50% draft hai lần liên tiếp. Sau thử nghiệm, nếu AI không nhanh hơn Rule-only hoặc chất lượng không đạt thì hạ về template. Đặt câu hỏi thảo luận: quản lý thực sự cần diễn giải nào mà một danh sách task chuẩn chưa đáp ứng?</a:t>
            </a:r>
          </a:p>
          <a:p xmlns:a="http://schemas.openxmlformats.org/drawingml/2006/main">
            <a:r>
              <a:t/>
            </a:r>
          </a:p>
          <a:p xmlns:a="http://schemas.openxmlformats.org/drawingml/2006/main">
            <a:r>
              <a:t>Nguồn: 02-group-problem-statement/group-report.md, phần 3–6. Card #1 của Trang Phước Hoàng Minh tại origin/TrangPhuocHoangMinh_02690, 01-individual-problem-scan/individual-report.md. Các thời gian hiện tại là ước lượng tự báo cáo, chưa đo trong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70d34705f343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bad3c9b8464472" /><Relationship Type="http://schemas.openxmlformats.org/officeDocument/2006/relationships/slideLayout" Target="/ppt/slideLayouts/slideLayout1.xml" Id="R7d6cdb33c21a4c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6cdb33c21a4c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85301d57c94f4b" /><Relationship Type="http://schemas.openxmlformats.org/officeDocument/2006/relationships/notesSlide" Target="/ppt/notesSlides/notesSlide1.xml" Id="Rade6dfd4c4064f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d5e5229db343eb" /><Relationship Type="http://schemas.openxmlformats.org/officeDocument/2006/relationships/notesSlide" Target="/ppt/notesSlides/notesSlide2.xml" Id="Rf035801b97e541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b3188d46b74826" /><Relationship Type="http://schemas.openxmlformats.org/officeDocument/2006/relationships/chart" Target="/ppt/slides/charts/chart1.xml" Id="R3fe4455eabf246ec" /><Relationship Type="http://schemas.openxmlformats.org/officeDocument/2006/relationships/notesSlide" Target="/ppt/notesSlides/notesSlide3.xml" Id="R9b8caf58d4aa4d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98642d23bb40ed" /><Relationship Type="http://schemas.openxmlformats.org/officeDocument/2006/relationships/notesSlide" Target="/ppt/notesSlides/notesSlide4.xml" Id="R7cccbdb8d9894a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fd2db7de5c4ebb" /><Relationship Type="http://schemas.openxmlformats.org/officeDocument/2006/relationships/notesSlide" Target="/ppt/notesSlides/notesSlide5.xml" Id="R3697b971ba9942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1c49fc361a4f7e" /><Relationship Type="http://schemas.openxmlformats.org/officeDocument/2006/relationships/notesSlide" Target="/ppt/notesSlides/notesSlide6.xml" Id="R6d1bc030ea164a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6616151de14c8a" /><Relationship Type="http://schemas.openxmlformats.org/officeDocument/2006/relationships/notesSlide" Target="/ppt/notesSlides/notesSlide7.xml" Id="R6f997eea7b6744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796ee1b0d145e9" /><Relationship Type="http://schemas.openxmlformats.org/officeDocument/2006/relationships/notesSlide" Target="/ppt/notesSlides/notesSlide8.xml" Id="R300628884cb841b0" /></Relationships>
</file>

<file path=ppt/slides/charts/chart1.xml><?xml version="1.0" encoding="utf-8"?>
<c:chartSpace xmlns:c="http://schemas.openxmlformats.org/drawingml/2006/chart">
  <c:lang val="en-US"/>
  <c:chart>
    <c:plotArea>
      <c:barChart>
        <c:barDir val="bar"/>
        <c:grouping val="clustered"/>
        <c:varyColors val="0"/>
        <c:ser>
          <c:idx val="0"/>
          <c:order val="0"/>
          <c:tx>
            <c:v>Phút, ước lượng</c:v>
          </c:tx>
          <c:spPr>
            <a:solidFill xmlns:a="http://schemas.openxmlformats.org/drawingml/2006/main">
              <a:srgbClr val="A8C5C0"/>
            </a:solidFill>
          </c:spPr>
          <c:dPt>
            <c:idx val="2"/>
            <c:invertIfNegative val="0"/>
            <c:spPr>
              <a:solidFill xmlns:a="http://schemas.openxmlformats.org/drawingml/2006/main">
                <a:srgbClr val="007F73"/>
              </a:solidFill>
            </c:spPr>
          </c:dPt>
          <c:dPt>
            <c:idx val="3"/>
            <c:invertIfNegative val="0"/>
            <c:spPr>
              <a:solidFill xmlns:a="http://schemas.openxmlformats.org/drawingml/2006/main">
                <a:srgbClr val="007F73"/>
              </a:solidFill>
            </c:spPr>
          </c:dPt>
          <c:cat>
            <c:strLit>
              <c:ptCount val="6"/>
              <c:pt idx="0">
                <c:v>1. Mở weekly report</c:v>
              </c:pt>
              <c:pt idx="1">
                <c:v>2. Lấy commit / PR</c:v>
              </c:pt>
              <c:pt idx="2">
                <c:v>3. Đối chiếu nguồn</c:v>
              </c:pt>
              <c:pt idx="3">
                <c:v>4. Viết diễn giải</c:v>
              </c:pt>
              <c:pt idx="4">
                <c:v>5. Copy Excel / phiếu</c:v>
              </c:pt>
              <c:pt idx="5">
                <c:v>6. Gửi và chỉnh sửa</c:v>
              </c:pt>
            </c:strLit>
          </c:cat>
          <c:val>
            <c:numLit>
              <c:formatCode>General</c:formatCode>
              <c:ptCount val="6"/>
              <c:pt idx="0">
                <c:v>20</c:v>
              </c:pt>
              <c:pt idx="1">
                <c:v>25</c:v>
              </c:pt>
              <c:pt idx="2">
                <c:v>40</c:v>
              </c:pt>
              <c:pt idx="3">
                <c:v>70</c:v>
              </c:pt>
              <c:pt idx="4">
                <c:v>15</c:v>
              </c:pt>
              <c:pt idx="5">
                <c:v>10</c:v>
              </c:pt>
            </c:numLit>
          </c:val>
        </c:ser>
        <c:dLbls>
          <c:txPr>
            <a:bodyPr xmlns:a="http://schemas.openxmlformats.org/drawingml/2006/main" anchorCtr="1"/>
            <a:lstStyle xmlns:a="http://schemas.openxmlformats.org/drawingml/2006/main"/>
            <a:p xmlns:a="http://schemas.openxmlformats.org/drawingml/2006/main">
              <a:pPr>
                <a:defRPr sz="1725" b="1">
                  <a:solidFill>
                    <a:srgbClr val="142D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42D3B"/>
                </a:solidFill>
                <a:latin typeface="Arial"/>
                <a:ea typeface="Arial"/>
                <a:cs typeface="Arial"/>
              </a:defRPr>
            </a:pPr>
          </a:p>
        </c:txPr>
        <c:crossAx val="48650112"/>
        <c:crossBetween val="between"/>
      </c:valAx>
      <c:spPr>
        <a:solidFill xmlns:a="http://schemas.openxmlformats.org/drawingml/2006/main">
          <a:srgbClr val="F5F7F6"/>
        </a:solidFill>
      </c:spPr>
    </c:plotArea>
    <c:plotVisOnly val="1"/>
  </c:chart>
  <c:spPr>
    <a:solidFill xmlns:a="http://schemas.openxmlformats.org/drawingml/2006/main">
      <a:srgbClr val="F5F7F6"/>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42D3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4F6067-6429-4E75-AB9B-9D5057937CB6}"/>
              </a:ext>
            </a:extLst>
          </p:cNvPr>
          <p:cNvSpPr>
            <a:spLocks xmlns:a="http://schemas.openxmlformats.org/drawingml/2006/main" noGrp="1"/>
          </p:cNvSpPr>
          <p:nvPr/>
        </p:nvSpPr>
        <p:spPr>
          <a:xfrm xmlns:a="http://schemas.openxmlformats.org/drawingml/2006/main">
            <a:off x="11010900" y="63531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A7C9C5"/>
                </a:solidFill>
                <a:latin typeface="Arial"/>
                <a:ea typeface="Arial"/>
                <a:cs typeface="Arial"/>
              </a:defRPr>
            </a:pPr>
            <a:r>
              <a:rPr sz="1350" b="0">
                <a:solidFill>
                  <a:srgbClr val="A7C9C5"/>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4C475D8C-D91C-41FB-8AD6-B8DABA9FEFB0}"/>
              </a:ext>
            </a:extLst>
          </p:cNvPr>
          <p:cNvSpPr>
            <a:spLocks xmlns:a="http://schemas.openxmlformats.org/drawingml/2006/main" noGrp="1"/>
          </p:cNvSpPr>
          <p:nvPr/>
        </p:nvSpPr>
        <p:spPr>
          <a:xfrm xmlns:a="http://schemas.openxmlformats.org/drawingml/2006/main">
            <a:off x="609600" y="571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A7C9C5"/>
                </a:solidFill>
                <a:latin typeface="Arial"/>
                <a:ea typeface="Arial"/>
                <a:cs typeface="Arial"/>
              </a:defRPr>
            </a:pPr>
            <a:r>
              <a:rPr sz="1725" b="0">
                <a:solidFill>
                  <a:srgbClr val="A7C9C5"/>
                </a:solidFill>
                <a:latin typeface="Arial"/>
                <a:ea typeface="Arial"/>
                <a:cs typeface="Arial"/>
              </a:rPr>
              <a:t>DAY 02  /  GROUP REPORT</a:t>
            </a:r>
          </a:p>
        </p:txBody>
      </p:sp>
      <p:sp>
        <p:nvSpPr>
          <p:cNvPr id="3" name="">
            <a:extLst xmlns:a="http://schemas.openxmlformats.org/drawingml/2006/main">
              <a:ext uri="{FF2B5EF4-FFF2-40B4-BE49-F238E27FC236}">
                <a16:creationId xmlns:a16="http://schemas.microsoft.com/office/drawing/2014/main" id="{1CCD0982-F1A4-4681-906C-A507C2BF9926}"/>
              </a:ext>
            </a:extLst>
          </p:cNvPr>
          <p:cNvSpPr>
            <a:spLocks xmlns:a="http://schemas.openxmlformats.org/drawingml/2006/main" noGrp="1"/>
          </p:cNvSpPr>
          <p:nvPr/>
        </p:nvSpPr>
        <p:spPr>
          <a:xfrm xmlns:a="http://schemas.openxmlformats.org/drawingml/2006/main">
            <a:off x="609600" y="1619250"/>
            <a:ext cx="10668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Tổng hợp báo cáo</a:t>
            </a:r>
          </a:p>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công việc cuối tháng</a:t>
            </a:r>
          </a:p>
        </p:txBody>
      </p:sp>
      <p:sp>
        <p:nvSpPr>
          <p:cNvPr id="4" name="">
            <a:extLst xmlns:a="http://schemas.openxmlformats.org/drawingml/2006/main">
              <a:ext uri="{FF2B5EF4-FFF2-40B4-BE49-F238E27FC236}">
                <a16:creationId xmlns:a16="http://schemas.microsoft.com/office/drawing/2014/main" id="{559182C7-54C0-4428-9AF4-A59F81BA93DA}"/>
              </a:ext>
            </a:extLst>
          </p:cNvPr>
          <p:cNvSpPr>
            <a:spLocks xmlns:a="http://schemas.openxmlformats.org/drawingml/2006/main" noGrp="1"/>
          </p:cNvSpPr>
          <p:nvPr/>
        </p:nvSpPr>
        <p:spPr>
          <a:xfrm xmlns:a="http://schemas.openxmlformats.org/drawingml/2006/main">
            <a:off x="647700" y="3714750"/>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C6D8DA"/>
                </a:solidFill>
                <a:latin typeface="Arial"/>
                <a:ea typeface="Arial"/>
                <a:cs typeface="Arial"/>
              </a:defRPr>
            </a:pPr>
            <a:r>
              <a:rPr sz="2400" b="0">
                <a:solidFill>
                  <a:srgbClr val="C6D8DA"/>
                </a:solidFill>
                <a:latin typeface="Arial"/>
                <a:ea typeface="Arial"/>
                <a:cs typeface="Arial"/>
              </a:rPr>
              <a:t>Weekly report và GitHub trong workflow của ERP Engineer</a:t>
            </a:r>
          </a:p>
        </p:txBody>
      </p:sp>
      <p:sp>
        <p:nvSpPr>
          <p:cNvPr id="5" name="">
            <a:extLst xmlns:a="http://schemas.openxmlformats.org/drawingml/2006/main">
              <a:ext uri="{FF2B5EF4-FFF2-40B4-BE49-F238E27FC236}">
                <a16:creationId xmlns:a16="http://schemas.microsoft.com/office/drawing/2014/main" id="{0C23C16C-6A49-4783-9A74-E4ECF09B7C42}"/>
              </a:ext>
            </a:extLst>
          </p:cNvPr>
          <p:cNvSpPr>
            <a:spLocks xmlns:a="http://schemas.openxmlformats.org/drawingml/2006/main" noGrp="1"/>
          </p:cNvSpPr>
          <p:nvPr/>
        </p:nvSpPr>
        <p:spPr>
          <a:xfrm xmlns:a="http://schemas.openxmlformats.org/drawingml/2006/main">
            <a:off x="647700" y="5314950"/>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Bài toán của Trang Phước Hoàng Minh</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Trưởng nhóm: Nguyễn Lê Phúc Thắng</a:t>
            </a:r>
          </a:p>
        </p:txBody>
      </p:sp>
    </p:spTree>
    <p:extLst>
      <p:ext uri="{BB962C8B-B14F-4D97-AF65-F5344CB8AC3E}">
        <p14:creationId xmlns:p14="http://schemas.microsoft.com/office/powerpoint/2010/main" val="601859669"/>
      </p:ext>
    </p:extLst>
  </p:cSld>
</p:sld>
</file>

<file path=ppt/slides/slide2.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92256C-175A-4CB0-8690-D82925D5D10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Nhóm hội tụ về bài monthly report</a:t>
            </a:r>
          </a:p>
        </p:txBody>
      </p:sp>
      <p:sp>
        <p:nvSpPr>
          <p:cNvPr id="2" name="">
            <a:extLst xmlns:a="http://schemas.openxmlformats.org/drawingml/2006/main">
              <a:ext uri="{FF2B5EF4-FFF2-40B4-BE49-F238E27FC236}">
                <a16:creationId xmlns:a16="http://schemas.microsoft.com/office/drawing/2014/main" id="{BD4777D0-CF14-4991-BE64-D64EDF8822EA}"/>
              </a:ext>
            </a:extLst>
          </p:cNvPr>
          <p:cNvSpPr>
            <a:spLocks xmlns:a="http://schemas.openxmlformats.org/drawingml/2006/main" noGrp="1"/>
          </p:cNvSpPr>
          <p:nvPr/>
        </p:nvSpPr>
        <p:spPr>
          <a:xfrm xmlns:a="http://schemas.openxmlformats.org/drawingml/2006/main">
            <a:off x="11010900" y="63531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02</a:t>
            </a:r>
          </a:p>
        </p:txBody>
      </p:sp>
      <p:graphicFrame>
        <p:nvGraphicFramePr>
          <p:cNvPr id="7" name=""/>
          <p:cNvGraphicFramePr/>
          <p:nvPr/>
        </p:nvGraphicFramePr>
        <p:xfrm>
          <a:off xmlns:a="http://schemas.openxmlformats.org/drawingml/2006/main" x="609600" y="1543050"/>
          <a:ext xmlns:a="http://schemas.openxmlformats.org/drawingml/2006/main" cx="10972800" cy="3600450"/>
        </p:xfrm>
        <a:graphic xmlns:a="http://schemas.openxmlformats.org/drawingml/2006/main">
          <a:graphicData uri="http://schemas.openxmlformats.org/drawingml/2006/table">
            <a:tbl>
              <a:tblPr/>
              <a:tblGrid>
                <a:gridCol w="4095750"/>
                <a:gridCol w="6877050"/>
              </a:tblGrid>
              <a:tr h="600075">
                <a:tc>
                  <a:txBody>
                    <a:bodyPr/>
                    <a:lstStyle/>
                    <a:p>
                      <a:r>
                        <a:rPr sz="1875" b="1">
                          <a:solidFill>
                            <a:srgbClr val="FFFFFF"/>
                          </a:solidFill>
                          <a:latin typeface="Arial"/>
                          <a:ea typeface="Arial"/>
                          <a:cs typeface="Arial"/>
                        </a:rPr>
                        <a:t>Thành viên</a:t>
                      </a:r>
                    </a:p>
                  </a:txBody>
                  <a:tcPr marL="142875" marR="142875" marT="114300" marB="85725" anchor="ctr">
                    <a:solidFill>
                      <a:srgbClr val="142D3B"/>
                    </a:solidFill>
                  </a:tcPr>
                </a:tc>
                <a:tc>
                  <a:txBody>
                    <a:bodyPr/>
                    <a:lstStyle/>
                    <a:p>
                      <a:r>
                        <a:rPr sz="1875" b="1">
                          <a:solidFill>
                            <a:srgbClr val="FFFFFF"/>
                          </a:solidFill>
                          <a:latin typeface="Arial"/>
                          <a:ea typeface="Arial"/>
                          <a:cs typeface="Arial"/>
                        </a:rPr>
                        <a:t>Candidate trong bản tổng hợp</a:t>
                      </a:r>
                    </a:p>
                  </a:txBody>
                  <a:tcPr marL="142875" marR="142875" marT="114300" marB="85725" anchor="ctr">
                    <a:solidFill>
                      <a:srgbClr val="142D3B"/>
                    </a:solidFill>
                  </a:tcPr>
                </a:tc>
              </a:tr>
              <a:tr h="600075">
                <a:tc>
                  <a:txBody>
                    <a:bodyPr/>
                    <a:lstStyle/>
                    <a:p>
                      <a:r>
                        <a:rPr sz="1875" b="0">
                          <a:solidFill>
                            <a:srgbClr val="142D3B"/>
                          </a:solidFill>
                          <a:latin typeface="Arial"/>
                          <a:ea typeface="Arial"/>
                          <a:cs typeface="Arial"/>
                        </a:rPr>
                        <a:t>Nguyễn Lê Phúc Thắng</a:t>
                      </a:r>
                    </a:p>
                  </a:txBody>
                  <a:tcPr marL="142875" marR="142875" marT="114300" marB="85725" anchor="ctr">
                    <a:solidFill>
                      <a:srgbClr val="FFFFFF"/>
                    </a:solidFill>
                  </a:tcPr>
                </a:tc>
                <a:tc>
                  <a:txBody>
                    <a:bodyPr/>
                    <a:lstStyle/>
                    <a:p>
                      <a:r>
                        <a:rPr sz="1875" b="0">
                          <a:solidFill>
                            <a:srgbClr val="142D3B"/>
                          </a:solidFill>
                          <a:latin typeface="Arial"/>
                          <a:ea typeface="Arial"/>
                          <a:cs typeface="Arial"/>
                        </a:rPr>
                        <a:t>FAQ khách homestay qua nhiều kênh</a:t>
                      </a:r>
                    </a:p>
                  </a:txBody>
                  <a:tcPr marL="142875" marR="142875" marT="114300" marB="85725" anchor="ctr">
                    <a:solidFill>
                      <a:srgbClr val="FFFFFF"/>
                    </a:solidFill>
                  </a:tcPr>
                </a:tc>
              </a:tr>
              <a:tr h="600075">
                <a:tc>
                  <a:txBody>
                    <a:bodyPr/>
                    <a:lstStyle/>
                    <a:p>
                      <a:r>
                        <a:rPr sz="1875" b="0">
                          <a:solidFill>
                            <a:srgbClr val="142D3B"/>
                          </a:solidFill>
                          <a:latin typeface="Arial"/>
                          <a:ea typeface="Arial"/>
                          <a:cs typeface="Arial"/>
                        </a:rPr>
                        <a:t>Lê Gia Bảo</a:t>
                      </a:r>
                    </a:p>
                  </a:txBody>
                  <a:tcPr marL="142875" marR="142875" marT="114300" marB="85725" anchor="ctr">
                    <a:solidFill>
                      <a:srgbClr val="EDF2F0"/>
                    </a:solidFill>
                  </a:tcPr>
                </a:tc>
                <a:tc>
                  <a:txBody>
                    <a:bodyPr/>
                    <a:lstStyle/>
                    <a:p>
                      <a:r>
                        <a:rPr sz="1875" b="0">
                          <a:solidFill>
                            <a:srgbClr val="142D3B"/>
                          </a:solidFill>
                          <a:latin typeface="Arial"/>
                          <a:ea typeface="Arial"/>
                          <a:cs typeface="Arial"/>
                        </a:rPr>
                        <a:t>Tổng hợp chi tiêu đa nguồn</a:t>
                      </a:r>
                    </a:p>
                  </a:txBody>
                  <a:tcPr marL="142875" marR="142875" marT="114300" marB="85725" anchor="ctr">
                    <a:solidFill>
                      <a:srgbClr val="EDF2F0"/>
                    </a:solidFill>
                  </a:tcPr>
                </a:tc>
              </a:tr>
              <a:tr h="600075">
                <a:tc>
                  <a:txBody>
                    <a:bodyPr/>
                    <a:lstStyle/>
                    <a:p>
                      <a:r>
                        <a:rPr sz="1875" b="0">
                          <a:solidFill>
                            <a:srgbClr val="142D3B"/>
                          </a:solidFill>
                          <a:latin typeface="Arial"/>
                          <a:ea typeface="Arial"/>
                          <a:cs typeface="Arial"/>
                        </a:rPr>
                        <a:t>Trang Phước Hoàng Minh</a:t>
                      </a:r>
                    </a:p>
                  </a:txBody>
                  <a:tcPr marL="142875" marR="142875" marT="114300" marB="85725" anchor="ctr">
                    <a:solidFill>
                      <a:srgbClr val="FFFFFF"/>
                    </a:solidFill>
                  </a:tcPr>
                </a:tc>
                <a:tc>
                  <a:txBody>
                    <a:bodyPr/>
                    <a:lstStyle/>
                    <a:p>
                      <a:r>
                        <a:rPr sz="1875" b="0">
                          <a:solidFill>
                            <a:srgbClr val="142D3B"/>
                          </a:solidFill>
                          <a:latin typeface="Arial"/>
                          <a:ea typeface="Arial"/>
                          <a:cs typeface="Arial"/>
                        </a:rPr>
                        <a:t>Monthly report từ weekly report và GitHub</a:t>
                      </a:r>
                    </a:p>
                  </a:txBody>
                  <a:tcPr marL="142875" marR="142875" marT="114300" marB="85725" anchor="ctr">
                    <a:solidFill>
                      <a:srgbClr val="FFFFFF"/>
                    </a:solidFill>
                  </a:tcPr>
                </a:tc>
              </a:tr>
              <a:tr h="600075">
                <a:tc>
                  <a:txBody>
                    <a:bodyPr/>
                    <a:lstStyle/>
                    <a:p>
                      <a:r>
                        <a:rPr sz="1875" b="0">
                          <a:solidFill>
                            <a:srgbClr val="142D3B"/>
                          </a:solidFill>
                          <a:latin typeface="Arial"/>
                          <a:ea typeface="Arial"/>
                          <a:cs typeface="Arial"/>
                        </a:rPr>
                        <a:t>Bùi Trọng Trịnh</a:t>
                      </a:r>
                    </a:p>
                  </a:txBody>
                  <a:tcPr marL="142875" marR="142875" marT="114300" marB="85725" anchor="ctr">
                    <a:solidFill>
                      <a:srgbClr val="EDF2F0"/>
                    </a:solidFill>
                  </a:tcPr>
                </a:tc>
                <a:tc>
                  <a:txBody>
                    <a:bodyPr/>
                    <a:lstStyle/>
                    <a:p>
                      <a:r>
                        <a:rPr sz="1875" b="0">
                          <a:solidFill>
                            <a:srgbClr val="142D3B"/>
                          </a:solidFill>
                          <a:latin typeface="Arial"/>
                          <a:ea typeface="Arial"/>
                          <a:cs typeface="Arial"/>
                        </a:rPr>
                        <a:t>Tổng hợp tiến độ nhóm</a:t>
                      </a:r>
                    </a:p>
                  </a:txBody>
                  <a:tcPr marL="142875" marR="142875" marT="114300" marB="85725" anchor="ctr">
                    <a:solidFill>
                      <a:srgbClr val="EDF2F0"/>
                    </a:solidFill>
                  </a:tcPr>
                </a:tc>
              </a:tr>
              <a:tr h="600075">
                <a:tc>
                  <a:txBody>
                    <a:bodyPr/>
                    <a:lstStyle/>
                    <a:p>
                      <a:r>
                        <a:rPr sz="1875" b="0">
                          <a:solidFill>
                            <a:srgbClr val="142D3B"/>
                          </a:solidFill>
                          <a:latin typeface="Arial"/>
                          <a:ea typeface="Arial"/>
                          <a:cs typeface="Arial"/>
                        </a:rPr>
                        <a:t>Vũ Minh Hiếu</a:t>
                      </a:r>
                    </a:p>
                  </a:txBody>
                  <a:tcPr marL="142875" marR="142875" marT="114300" marB="85725" anchor="ctr">
                    <a:solidFill>
                      <a:srgbClr val="FFFFFF"/>
                    </a:solidFill>
                  </a:tcPr>
                </a:tc>
                <a:tc>
                  <a:txBody>
                    <a:bodyPr/>
                    <a:lstStyle/>
                    <a:p>
                      <a:r>
                        <a:rPr sz="1875" b="0">
                          <a:solidFill>
                            <a:srgbClr val="142D3B"/>
                          </a:solidFill>
                          <a:latin typeface="Arial"/>
                          <a:ea typeface="Arial"/>
                          <a:cs typeface="Arial"/>
                        </a:rPr>
                        <a:t>Tổng hợp công việc và viết weekly report</a:t>
                      </a:r>
                    </a:p>
                  </a:txBody>
                  <a:tcPr marL="142875" marR="142875" marT="11430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97E2D95-6EB5-4B51-B7BE-111BD1779C9E}"/>
              </a:ext>
            </a:extLst>
          </p:cNvPr>
          <p:cNvSpPr>
            <a:spLocks xmlns:a="http://schemas.openxmlformats.org/drawingml/2006/main" noGrp="1"/>
          </p:cNvSpPr>
          <p:nvPr/>
        </p:nvSpPr>
        <p:spPr>
          <a:xfrm xmlns:a="http://schemas.openxmlformats.org/drawingml/2006/main">
            <a:off x="609600" y="54864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7F73"/>
                </a:solidFill>
                <a:latin typeface="Arial"/>
                <a:ea typeface="Arial"/>
                <a:cs typeface="Arial"/>
              </a:defRPr>
            </a:pPr>
            <a:r>
              <a:rPr sz="2025" b="1">
                <a:solidFill>
                  <a:srgbClr val="007F73"/>
                </a:solidFill>
                <a:latin typeface="Arial"/>
                <a:ea typeface="Arial"/>
                <a:cs typeface="Arial"/>
              </a:rPr>
              <a:t>Lý do chọn: actor cụ thể, nguồn đầu vào rõ và có thể so sánh template với AI draft.</a:t>
            </a:r>
          </a:p>
        </p:txBody>
      </p:sp>
    </p:spTree>
    <p:extLst>
      <p:ext uri="{BB962C8B-B14F-4D97-AF65-F5344CB8AC3E}">
        <p14:creationId xmlns:p14="http://schemas.microsoft.com/office/powerpoint/2010/main" val="1484706055"/>
      </p:ext>
    </p:extLst>
  </p:cSld>
</p:sld>
</file>

<file path=ppt/slides/slide3.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2120655-B364-49D5-8F58-F635A237338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Pain point và workflow hiện tại</a:t>
            </a:r>
          </a:p>
        </p:txBody>
      </p:sp>
      <p:sp>
        <p:nvSpPr>
          <p:cNvPr id="2" name="">
            <a:extLst xmlns:a="http://schemas.openxmlformats.org/drawingml/2006/main">
              <a:ext uri="{FF2B5EF4-FFF2-40B4-BE49-F238E27FC236}">
                <a16:creationId xmlns:a16="http://schemas.microsoft.com/office/drawing/2014/main" id="{E3A4BABA-2B5D-49F7-928A-46942B8EE580}"/>
              </a:ext>
            </a:extLst>
          </p:cNvPr>
          <p:cNvSpPr>
            <a:spLocks xmlns:a="http://schemas.openxmlformats.org/drawingml/2006/main" noGrp="1"/>
          </p:cNvSpPr>
          <p:nvPr/>
        </p:nvSpPr>
        <p:spPr>
          <a:xfrm xmlns:a="http://schemas.openxmlformats.org/drawingml/2006/main">
            <a:off x="11010900" y="63531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61C7F51-1655-45E2-BEDF-8B5D553173F6}"/>
              </a:ext>
            </a:extLst>
          </p:cNvPr>
          <p:cNvSpPr>
            <a:spLocks xmlns:a="http://schemas.openxmlformats.org/drawingml/2006/main" noGrp="1"/>
          </p:cNvSpPr>
          <p:nvPr/>
        </p:nvSpPr>
        <p:spPr>
          <a:xfrm xmlns:a="http://schemas.openxmlformats.org/drawingml/2006/main">
            <a:off x="609600" y="13525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Phải đối chiếu rồi viết lại dữ liệu đã có cho quản lý không dùng GitHub.</a:t>
            </a:r>
          </a:p>
        </p:txBody>
      </p:sp>
      <p:graphicFrame>
        <p:nvGraphicFramePr>
          <p:cNvPr id="13" name="Chart"/>
          <p:cNvGraphicFramePr/>
          <p:nvPr/>
        </p:nvGraphicFramePr>
        <p:xfrm>
          <a:off xmlns:a="http://schemas.openxmlformats.org/drawingml/2006/main" x="514350" y="2286000"/>
          <a:ext xmlns:a="http://schemas.openxmlformats.org/drawingml/2006/main" cx="7762875" cy="3543300"/>
        </p:xfrm>
        <a:graphic xmlns:a="http://schemas.openxmlformats.org/drawingml/2006/main">
          <a:graphicData uri="http://schemas.openxmlformats.org/drawingml/2006/chart">
            <c:chart xmlns:r="http://schemas.openxmlformats.org/officeDocument/2006/relationships" xmlns:c="http://schemas.openxmlformats.org/drawingml/2006/chart" r:id="R3fe4455eabf246ec"/>
          </a:graphicData>
        </a:graphic>
      </p:graphicFrame>
      <p:sp>
        <p:nvSpPr>
          <p:cNvPr id="5" name="">
            <a:extLst xmlns:a="http://schemas.openxmlformats.org/drawingml/2006/main">
              <a:ext uri="{FF2B5EF4-FFF2-40B4-BE49-F238E27FC236}">
                <a16:creationId xmlns:a16="http://schemas.microsoft.com/office/drawing/2014/main" id="{D344AA08-9075-446A-8200-BC0F7AA39AE4}"/>
              </a:ext>
            </a:extLst>
          </p:cNvPr>
          <p:cNvSpPr>
            <a:spLocks xmlns:a="http://schemas.openxmlformats.org/drawingml/2006/main" noGrp="1"/>
          </p:cNvSpPr>
          <p:nvPr/>
        </p:nvSpPr>
        <p:spPr>
          <a:xfrm xmlns:a="http://schemas.openxmlformats.org/drawingml/2006/main">
            <a:off x="8743950" y="2476500"/>
            <a:ext cx="2781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007F73"/>
                </a:solidFill>
                <a:latin typeface="Arial"/>
                <a:ea typeface="Arial"/>
                <a:cs typeface="Arial"/>
              </a:defRPr>
            </a:pPr>
            <a:r>
              <a:rPr sz="3675" b="1">
                <a:solidFill>
                  <a:srgbClr val="007F73"/>
                </a:solidFill>
                <a:latin typeface="Arial"/>
                <a:ea typeface="Arial"/>
                <a:cs typeface="Arial"/>
              </a:rPr>
              <a:t>180 phút</a:t>
            </a:r>
          </a:p>
        </p:txBody>
      </p:sp>
      <p:sp>
        <p:nvSpPr>
          <p:cNvPr id="6" name="">
            <a:extLst xmlns:a="http://schemas.openxmlformats.org/drawingml/2006/main">
              <a:ext uri="{FF2B5EF4-FFF2-40B4-BE49-F238E27FC236}">
                <a16:creationId xmlns:a16="http://schemas.microsoft.com/office/drawing/2014/main" id="{4F26B65D-DDA1-4810-BA48-BDEB701838F0}"/>
              </a:ext>
            </a:extLst>
          </p:cNvPr>
          <p:cNvSpPr>
            <a:spLocks xmlns:a="http://schemas.openxmlformats.org/drawingml/2006/main" noGrp="1"/>
          </p:cNvSpPr>
          <p:nvPr/>
        </p:nvSpPr>
        <p:spPr>
          <a:xfrm xmlns:a="http://schemas.openxmlformats.org/drawingml/2006/main">
            <a:off x="8763000" y="3295650"/>
            <a:ext cx="2628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Tổng thời gian</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ước lượng / tháng</a:t>
            </a:r>
          </a:p>
        </p:txBody>
      </p:sp>
      <p:sp>
        <p:nvSpPr>
          <p:cNvPr id="7" name="">
            <a:extLst xmlns:a="http://schemas.openxmlformats.org/drawingml/2006/main">
              <a:ext uri="{FF2B5EF4-FFF2-40B4-BE49-F238E27FC236}">
                <a16:creationId xmlns:a16="http://schemas.microsoft.com/office/drawing/2014/main" id="{4D3DA0F5-D91F-4E06-98BA-76E08EBD6382}"/>
              </a:ext>
            </a:extLst>
          </p:cNvPr>
          <p:cNvSpPr>
            <a:spLocks xmlns:a="http://schemas.openxmlformats.org/drawingml/2006/main" noGrp="1"/>
          </p:cNvSpPr>
          <p:nvPr/>
        </p:nvSpPr>
        <p:spPr>
          <a:xfrm xmlns:a="http://schemas.openxmlformats.org/drawingml/2006/main">
            <a:off x="8743950" y="4400550"/>
            <a:ext cx="2781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110 phút</a:t>
            </a:r>
          </a:p>
        </p:txBody>
      </p:sp>
      <p:sp>
        <p:nvSpPr>
          <p:cNvPr id="8" name="">
            <a:extLst xmlns:a="http://schemas.openxmlformats.org/drawingml/2006/main">
              <a:ext uri="{FF2B5EF4-FFF2-40B4-BE49-F238E27FC236}">
                <a16:creationId xmlns:a16="http://schemas.microsoft.com/office/drawing/2014/main" id="{BD66DA3B-F643-4F0D-9D19-E6C0B419EC58}"/>
              </a:ext>
            </a:extLst>
          </p:cNvPr>
          <p:cNvSpPr>
            <a:spLocks xmlns:a="http://schemas.openxmlformats.org/drawingml/2006/main" noGrp="1"/>
          </p:cNvSpPr>
          <p:nvPr/>
        </p:nvSpPr>
        <p:spPr>
          <a:xfrm xmlns:a="http://schemas.openxmlformats.org/drawingml/2006/main">
            <a:off x="8763000" y="5067300"/>
            <a:ext cx="2686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D3B"/>
                </a:solidFill>
                <a:latin typeface="Arial"/>
                <a:ea typeface="Arial"/>
                <a:cs typeface="Arial"/>
              </a:defRPr>
            </a:pPr>
            <a:r>
              <a:rPr sz="1875" b="0">
                <a:solidFill>
                  <a:srgbClr val="142D3B"/>
                </a:solidFill>
                <a:latin typeface="Arial"/>
                <a:ea typeface="Arial"/>
                <a:cs typeface="Arial"/>
              </a:rPr>
              <a:t>Đối chiếu + viết lại</a:t>
            </a:r>
          </a:p>
          <a:p xmlns:a="http://schemas.openxmlformats.org/drawingml/2006/main">
            <a:pPr>
              <a:defRPr sz="1875" b="0">
                <a:solidFill>
                  <a:srgbClr val="142D3B"/>
                </a:solidFill>
                <a:latin typeface="Arial"/>
                <a:ea typeface="Arial"/>
                <a:cs typeface="Arial"/>
              </a:defRPr>
            </a:pPr>
            <a:r>
              <a:rPr sz="1875" b="0">
                <a:solidFill>
                  <a:srgbClr val="142D3B"/>
                </a:solidFill>
                <a:latin typeface="Arial"/>
                <a:ea typeface="Arial"/>
                <a:cs typeface="Arial"/>
              </a:rPr>
              <a:t>Nguy cơ sót, trùng task</a:t>
            </a:r>
          </a:p>
        </p:txBody>
      </p:sp>
      <p:sp>
        <p:nvSpPr>
          <p:cNvPr id="9" name="">
            <a:extLst xmlns:a="http://schemas.openxmlformats.org/drawingml/2006/main">
              <a:ext uri="{FF2B5EF4-FFF2-40B4-BE49-F238E27FC236}">
                <a16:creationId xmlns:a16="http://schemas.microsoft.com/office/drawing/2014/main" id="{E29CD274-BCBE-4D01-8B57-46E93DFCA100}"/>
              </a:ext>
            </a:extLst>
          </p:cNvPr>
          <p:cNvSpPr>
            <a:spLocks xmlns:a="http://schemas.openxmlformats.org/drawingml/2006/main" noGrp="1"/>
          </p:cNvSpPr>
          <p:nvPr/>
        </p:nvSpPr>
        <p:spPr>
          <a:xfrm xmlns:a="http://schemas.openxmlformats.org/drawingml/2006/main">
            <a:off x="609600" y="616267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Phân rã minh họa từ Card #1. Khoảng tổng: 150–210 phút/tháng, chưa bấm giờ.</a:t>
            </a:r>
          </a:p>
        </p:txBody>
      </p:sp>
    </p:spTree>
    <p:extLst>
      <p:ext uri="{BB962C8B-B14F-4D97-AF65-F5344CB8AC3E}">
        <p14:creationId xmlns:p14="http://schemas.microsoft.com/office/powerpoint/2010/main" val="1633516853"/>
      </p:ext>
    </p:extLst>
  </p:cSld>
</p:sld>
</file>

<file path=ppt/slides/slide4.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DED57AF-ADFD-4881-AD1D-37F32A05BF5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Bằng chứng và việc cần kiểm chứng</a:t>
            </a:r>
          </a:p>
        </p:txBody>
      </p:sp>
      <p:sp>
        <p:nvSpPr>
          <p:cNvPr id="2" name="">
            <a:extLst xmlns:a="http://schemas.openxmlformats.org/drawingml/2006/main">
              <a:ext uri="{FF2B5EF4-FFF2-40B4-BE49-F238E27FC236}">
                <a16:creationId xmlns:a16="http://schemas.microsoft.com/office/drawing/2014/main" id="{4F733F4B-CEE4-416A-B156-64BA0347BAB8}"/>
              </a:ext>
            </a:extLst>
          </p:cNvPr>
          <p:cNvSpPr>
            <a:spLocks xmlns:a="http://schemas.openxmlformats.org/drawingml/2006/main" noGrp="1"/>
          </p:cNvSpPr>
          <p:nvPr/>
        </p:nvSpPr>
        <p:spPr>
          <a:xfrm xmlns:a="http://schemas.openxmlformats.org/drawingml/2006/main">
            <a:off x="11010900" y="63531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9495882-FCA4-4F0D-860B-CC37BD325B80}"/>
              </a:ext>
            </a:extLst>
          </p:cNvPr>
          <p:cNvSpPr>
            <a:spLocks xmlns:a="http://schemas.openxmlformats.org/drawingml/2006/main" noGrp="1"/>
          </p:cNvSpPr>
          <p:nvPr/>
        </p:nvSpPr>
        <p:spPr>
          <a:xfrm xmlns:a="http://schemas.openxmlformats.org/drawingml/2006/main">
            <a:off x="609600" y="16383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7F73"/>
                </a:solidFill>
                <a:latin typeface="Arial"/>
                <a:ea typeface="Arial"/>
                <a:cs typeface="Arial"/>
              </a:defRPr>
            </a:pPr>
            <a:r>
              <a:rPr sz="1800" b="1">
                <a:solidFill>
                  <a:srgbClr val="007F73"/>
                </a:solidFill>
                <a:latin typeface="Arial"/>
                <a:ea typeface="Arial"/>
                <a:cs typeface="Arial"/>
              </a:rPr>
              <a:t>ĐANG CÓ</a:t>
            </a:r>
          </a:p>
        </p:txBody>
      </p:sp>
      <p:sp>
        <p:nvSpPr>
          <p:cNvPr id="4" name="">
            <a:extLst xmlns:a="http://schemas.openxmlformats.org/drawingml/2006/main">
              <a:ext uri="{FF2B5EF4-FFF2-40B4-BE49-F238E27FC236}">
                <a16:creationId xmlns:a16="http://schemas.microsoft.com/office/drawing/2014/main" id="{4ABCACC3-DA76-4674-AC70-13CE66EB192B}"/>
              </a:ext>
            </a:extLst>
          </p:cNvPr>
          <p:cNvSpPr>
            <a:spLocks xmlns:a="http://schemas.openxmlformats.org/drawingml/2006/main" noGrp="1"/>
          </p:cNvSpPr>
          <p:nvPr/>
        </p:nvSpPr>
        <p:spPr>
          <a:xfrm xmlns:a="http://schemas.openxmlformats.org/drawingml/2006/main">
            <a:off x="609600" y="224790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Hoàng Minh mô tả workflow thật</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và ước lượng 2,5–3,5 giờ/tháng.</a:t>
            </a:r>
          </a:p>
        </p:txBody>
      </p:sp>
      <p:sp>
        <p:nvSpPr>
          <p:cNvPr id="5" name="">
            <a:extLst xmlns:a="http://schemas.openxmlformats.org/drawingml/2006/main">
              <a:ext uri="{FF2B5EF4-FFF2-40B4-BE49-F238E27FC236}">
                <a16:creationId xmlns:a16="http://schemas.microsoft.com/office/drawing/2014/main" id="{C666A78F-4C84-4CC3-9E9C-44F7D61FCADA}"/>
              </a:ext>
            </a:extLst>
          </p:cNvPr>
          <p:cNvSpPr>
            <a:spLocks xmlns:a="http://schemas.openxmlformats.org/drawingml/2006/main" noGrp="1"/>
          </p:cNvSpPr>
          <p:nvPr/>
        </p:nvSpPr>
        <p:spPr>
          <a:xfrm xmlns:a="http://schemas.openxmlformats.org/drawingml/2006/main">
            <a:off x="609600" y="3686175"/>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Bài weekly report và group update</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cho thấy vấn đề tương tự</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ở những bối cảnh khác.</a:t>
            </a:r>
          </a:p>
        </p:txBody>
      </p:sp>
      <p:sp>
        <p:nvSpPr>
          <p:cNvPr id="6" name="">
            <a:extLst xmlns:a="http://schemas.openxmlformats.org/drawingml/2006/main">
              <a:ext uri="{FF2B5EF4-FFF2-40B4-BE49-F238E27FC236}">
                <a16:creationId xmlns:a16="http://schemas.microsoft.com/office/drawing/2014/main" id="{6BCF3181-6E49-4558-9240-AB2B98E59446}"/>
              </a:ext>
            </a:extLst>
          </p:cNvPr>
          <p:cNvSpPr>
            <a:spLocks xmlns:a="http://schemas.openxmlformats.org/drawingml/2006/main" noGrp="1"/>
          </p:cNvSpPr>
          <p:nvPr/>
        </p:nvSpPr>
        <p:spPr>
          <a:xfrm xmlns:a="http://schemas.openxmlformats.org/drawingml/2006/main">
            <a:off x="6496050" y="1638300"/>
            <a:ext cx="5086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A45323"/>
                </a:solidFill>
                <a:latin typeface="Arial"/>
                <a:ea typeface="Arial"/>
                <a:cs typeface="Arial"/>
              </a:defRPr>
            </a:pPr>
            <a:r>
              <a:rPr sz="1800" b="1">
                <a:solidFill>
                  <a:srgbClr val="A45323"/>
                </a:solidFill>
                <a:latin typeface="Arial"/>
                <a:ea typeface="Arial"/>
                <a:cs typeface="Arial"/>
              </a:rPr>
              <a:t>CẦN VALIDATION</a:t>
            </a:r>
          </a:p>
        </p:txBody>
      </p:sp>
      <p:sp>
        <p:nvSpPr>
          <p:cNvPr id="7" name="">
            <a:extLst xmlns:a="http://schemas.openxmlformats.org/drawingml/2006/main">
              <a:ext uri="{FF2B5EF4-FFF2-40B4-BE49-F238E27FC236}">
                <a16:creationId xmlns:a16="http://schemas.microsoft.com/office/drawing/2014/main" id="{676BC0D9-312A-4942-902F-88E2D2F819B4}"/>
              </a:ext>
            </a:extLst>
          </p:cNvPr>
          <p:cNvSpPr>
            <a:spLocks xmlns:a="http://schemas.openxmlformats.org/drawingml/2006/main" noGrp="1"/>
          </p:cNvSpPr>
          <p:nvPr/>
        </p:nvSpPr>
        <p:spPr>
          <a:xfrm xmlns:a="http://schemas.openxmlformats.org/drawingml/2006/main">
            <a:off x="6496050" y="2247900"/>
            <a:ext cx="50482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D3B"/>
                </a:solidFill>
                <a:latin typeface="Arial"/>
                <a:ea typeface="Arial"/>
                <a:cs typeface="Arial"/>
              </a:defRPr>
            </a:pPr>
            <a:r>
              <a:rPr sz="2175" b="0">
                <a:solidFill>
                  <a:srgbClr val="142D3B"/>
                </a:solidFill>
                <a:latin typeface="Arial"/>
                <a:ea typeface="Arial"/>
                <a:cs typeface="Arial"/>
              </a:rPr>
              <a:t>Phỏng vấn 2–3 người liên quan:</a:t>
            </a:r>
          </a:p>
          <a:p xmlns:a="http://schemas.openxmlformats.org/drawingml/2006/main">
            <a:pPr>
              <a:defRPr sz="2175" b="0">
                <a:solidFill>
                  <a:srgbClr val="142D3B"/>
                </a:solidFill>
                <a:latin typeface="Arial"/>
                <a:ea typeface="Arial"/>
                <a:cs typeface="Arial"/>
              </a:defRPr>
            </a:pPr>
            <a:r>
              <a:rPr sz="2175" b="0">
                <a:solidFill>
                  <a:srgbClr val="142D3B"/>
                </a:solidFill>
                <a:latin typeface="Arial"/>
                <a:ea typeface="Arial"/>
                <a:cs typeface="Arial"/>
              </a:rPr>
              <a:t>người viết, người nhận báo cáo</a:t>
            </a:r>
          </a:p>
          <a:p xmlns:a="http://schemas.openxmlformats.org/drawingml/2006/main">
            <a:pPr>
              <a:defRPr sz="2175" b="0">
                <a:solidFill>
                  <a:srgbClr val="142D3B"/>
                </a:solidFill>
                <a:latin typeface="Arial"/>
                <a:ea typeface="Arial"/>
                <a:cs typeface="Arial"/>
              </a:defRPr>
            </a:pPr>
            <a:r>
              <a:rPr sz="2175" b="0">
                <a:solidFill>
                  <a:srgbClr val="142D3B"/>
                </a:solidFill>
                <a:latin typeface="Arial"/>
                <a:ea typeface="Arial"/>
                <a:cs typeface="Arial"/>
              </a:rPr>
              <a:t>và một đồng nghiệp.</a:t>
            </a:r>
          </a:p>
        </p:txBody>
      </p:sp>
      <p:sp>
        <p:nvSpPr>
          <p:cNvPr id="8" name="">
            <a:extLst xmlns:a="http://schemas.openxmlformats.org/drawingml/2006/main">
              <a:ext uri="{FF2B5EF4-FFF2-40B4-BE49-F238E27FC236}">
                <a16:creationId xmlns:a16="http://schemas.microsoft.com/office/drawing/2014/main" id="{E897E6FE-8E16-46DF-9AD4-A620ED9A8474}"/>
              </a:ext>
            </a:extLst>
          </p:cNvPr>
          <p:cNvSpPr>
            <a:spLocks xmlns:a="http://schemas.openxmlformats.org/drawingml/2006/main" noGrp="1"/>
          </p:cNvSpPr>
          <p:nvPr/>
        </p:nvSpPr>
        <p:spPr>
          <a:xfrm xmlns:a="http://schemas.openxmlformats.org/drawingml/2006/main">
            <a:off x="6496050" y="3914775"/>
            <a:ext cx="50482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Đo thời gian thực tế.</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Kiểm tra quản lý có chấp nhận</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chỉ dùng sheet/template không.</a:t>
            </a:r>
          </a:p>
        </p:txBody>
      </p:sp>
      <p:sp>
        <p:nvSpPr>
          <p:cNvPr id="9" name="">
            <a:extLst xmlns:a="http://schemas.openxmlformats.org/drawingml/2006/main">
              <a:ext uri="{FF2B5EF4-FFF2-40B4-BE49-F238E27FC236}">
                <a16:creationId xmlns:a16="http://schemas.microsoft.com/office/drawing/2014/main" id="{CDF0F5ED-6287-4935-96E6-75B02C464D32}"/>
              </a:ext>
            </a:extLst>
          </p:cNvPr>
          <p:cNvSpPr>
            <a:spLocks xmlns:a="http://schemas.openxmlformats.org/drawingml/2006/main" noGrp="1"/>
          </p:cNvSpPr>
          <p:nvPr/>
        </p:nvSpPr>
        <p:spPr>
          <a:xfrm xmlns:a="http://schemas.openxmlformats.org/drawingml/2006/main">
            <a:off x="609600" y="58864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5"/>
                </a:solidFill>
                <a:latin typeface="Arial"/>
                <a:ea typeface="Arial"/>
                <a:cs typeface="Arial"/>
              </a:defRPr>
            </a:pPr>
            <a:r>
              <a:rPr sz="1725" b="0">
                <a:solidFill>
                  <a:srgbClr val="526575"/>
                </a:solidFill>
                <a:latin typeface="Arial"/>
                <a:ea typeface="Arial"/>
                <a:cs typeface="Arial"/>
              </a:rPr>
              <a:t>Hiện chưa có kết quả phỏng vấn hoặc pilot. Các report cá nhân là tín hiệu ban đầu.</a:t>
            </a:r>
          </a:p>
        </p:txBody>
      </p:sp>
    </p:spTree>
    <p:extLst>
      <p:ext uri="{BB962C8B-B14F-4D97-AF65-F5344CB8AC3E}">
        <p14:creationId xmlns:p14="http://schemas.microsoft.com/office/powerpoint/2010/main" val="197883493"/>
      </p:ext>
    </p:extLst>
  </p:cSld>
</p:sld>
</file>

<file path=ppt/slides/slide5.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DB7F9D-CF18-44D2-9EB9-9CCEA564F8C5}"/>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Workflow đề xuất có người kiểm tra</a:t>
            </a:r>
          </a:p>
        </p:txBody>
      </p:sp>
      <p:sp>
        <p:nvSpPr>
          <p:cNvPr id="2" name="">
            <a:extLst xmlns:a="http://schemas.openxmlformats.org/drawingml/2006/main">
              <a:ext uri="{FF2B5EF4-FFF2-40B4-BE49-F238E27FC236}">
                <a16:creationId xmlns:a16="http://schemas.microsoft.com/office/drawing/2014/main" id="{B393A717-14EE-4DB0-B9D8-4B0532EBC26C}"/>
              </a:ext>
            </a:extLst>
          </p:cNvPr>
          <p:cNvSpPr>
            <a:spLocks xmlns:a="http://schemas.openxmlformats.org/drawingml/2006/main" noGrp="1"/>
          </p:cNvSpPr>
          <p:nvPr/>
        </p:nvSpPr>
        <p:spPr>
          <a:xfrm xmlns:a="http://schemas.openxmlformats.org/drawingml/2006/main">
            <a:off x="11010900" y="63531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05</a:t>
            </a:r>
          </a:p>
        </p:txBody>
      </p:sp>
      <p:graphicFrame>
        <p:nvGraphicFramePr>
          <p:cNvPr id="7" name=""/>
          <p:cNvGraphicFramePr/>
          <p:nvPr/>
        </p:nvGraphicFramePr>
        <p:xfrm>
          <a:off xmlns:a="http://schemas.openxmlformats.org/drawingml/2006/main" x="609600" y="1581150"/>
          <a:ext xmlns:a="http://schemas.openxmlformats.org/drawingml/2006/main" cx="10972800" cy="4057650"/>
        </p:xfrm>
        <a:graphic xmlns:a="http://schemas.openxmlformats.org/drawingml/2006/main">
          <a:graphicData uri="http://schemas.openxmlformats.org/drawingml/2006/table">
            <a:tbl>
              <a:tblPr/>
              <a:tblGrid>
                <a:gridCol w="2895600"/>
                <a:gridCol w="2495550"/>
                <a:gridCol w="5581650"/>
              </a:tblGrid>
              <a:tr h="579664">
                <a:tc>
                  <a:txBody>
                    <a:bodyPr/>
                    <a:lstStyle/>
                    <a:p>
                      <a:r>
                        <a:rPr sz="1800" b="1">
                          <a:solidFill>
                            <a:srgbClr val="FFFFFF"/>
                          </a:solidFill>
                          <a:latin typeface="Arial"/>
                          <a:ea typeface="Arial"/>
                          <a:cs typeface="Arial"/>
                        </a:rPr>
                        <a:t>Bước</a:t>
                      </a:r>
                    </a:p>
                  </a:txBody>
                  <a:tcPr marL="142875" marR="142875" marT="114300" marB="85725" anchor="ctr">
                    <a:solidFill>
                      <a:srgbClr val="142D3B"/>
                    </a:solidFill>
                  </a:tcPr>
                </a:tc>
                <a:tc>
                  <a:txBody>
                    <a:bodyPr/>
                    <a:lstStyle/>
                    <a:p>
                      <a:r>
                        <a:rPr sz="1800" b="1">
                          <a:solidFill>
                            <a:srgbClr val="FFFFFF"/>
                          </a:solidFill>
                          <a:latin typeface="Arial"/>
                          <a:ea typeface="Arial"/>
                          <a:cs typeface="Arial"/>
                        </a:rPr>
                        <a:t>Thực hiện</a:t>
                      </a:r>
                    </a:p>
                  </a:txBody>
                  <a:tcPr marL="142875" marR="142875" marT="114300" marB="85725" anchor="ctr">
                    <a:solidFill>
                      <a:srgbClr val="142D3B"/>
                    </a:solidFill>
                  </a:tcPr>
                </a:tc>
                <a:tc>
                  <a:txBody>
                    <a:bodyPr/>
                    <a:lstStyle/>
                    <a:p>
                      <a:r>
                        <a:rPr sz="1800" b="1">
                          <a:solidFill>
                            <a:srgbClr val="FFFFFF"/>
                          </a:solidFill>
                          <a:latin typeface="Arial"/>
                          <a:ea typeface="Arial"/>
                          <a:cs typeface="Arial"/>
                        </a:rPr>
                        <a:t>Đầu ra</a:t>
                      </a:r>
                    </a:p>
                  </a:txBody>
                  <a:tcPr marL="142875" marR="142875" marT="114300" marB="85725" anchor="ctr">
                    <a:solidFill>
                      <a:srgbClr val="142D3B"/>
                    </a:solidFill>
                  </a:tcPr>
                </a:tc>
              </a:tr>
              <a:tr h="579664">
                <a:tc>
                  <a:txBody>
                    <a:bodyPr/>
                    <a:lstStyle/>
                    <a:p>
                      <a:r>
                        <a:rPr sz="1800" b="0">
                          <a:solidFill>
                            <a:srgbClr val="142D3B"/>
                          </a:solidFill>
                          <a:latin typeface="Arial"/>
                          <a:ea typeface="Arial"/>
                          <a:cs typeface="Arial"/>
                        </a:rPr>
                        <a:t>1. Chuẩn bị nguồn</a:t>
                      </a:r>
                    </a:p>
                  </a:txBody>
                  <a:tcPr marL="142875" marR="142875" marT="114300" marB="85725" anchor="ctr">
                    <a:solidFill>
                      <a:srgbClr val="FFFFFF"/>
                    </a:solidFill>
                  </a:tcPr>
                </a:tc>
                <a:tc>
                  <a:txBody>
                    <a:bodyPr/>
                    <a:lstStyle/>
                    <a:p>
                      <a:r>
                        <a:rPr sz="1800" b="0">
                          <a:solidFill>
                            <a:srgbClr val="142D3B"/>
                          </a:solidFill>
                          <a:latin typeface="Arial"/>
                          <a:ea typeface="Arial"/>
                          <a:cs typeface="Arial"/>
                        </a:rPr>
                        <a:t>Engineer</a:t>
                      </a:r>
                    </a:p>
                  </a:txBody>
                  <a:tcPr marL="142875" marR="142875" marT="114300" marB="85725" anchor="ctr">
                    <a:solidFill>
                      <a:srgbClr val="FFFFFF"/>
                    </a:solidFill>
                  </a:tcPr>
                </a:tc>
                <a:tc>
                  <a:txBody>
                    <a:bodyPr/>
                    <a:lstStyle/>
                    <a:p>
                      <a:r>
                        <a:rPr sz="1800" b="0">
                          <a:solidFill>
                            <a:srgbClr val="142D3B"/>
                          </a:solidFill>
                          <a:latin typeface="Arial"/>
                          <a:ea typeface="Arial"/>
                          <a:cs typeface="Arial"/>
                        </a:rPr>
                        <a:t>Weekly report + commit/PR được phép dùng</a:t>
                      </a:r>
                    </a:p>
                  </a:txBody>
                  <a:tcPr marL="142875" marR="142875" marT="114300" marB="85725" anchor="ctr">
                    <a:solidFill>
                      <a:srgbClr val="FFFFFF"/>
                    </a:solidFill>
                  </a:tcPr>
                </a:tc>
              </a:tr>
              <a:tr h="579664">
                <a:tc>
                  <a:txBody>
                    <a:bodyPr/>
                    <a:lstStyle/>
                    <a:p>
                      <a:r>
                        <a:rPr sz="1800" b="0">
                          <a:solidFill>
                            <a:srgbClr val="142D3B"/>
                          </a:solidFill>
                          <a:latin typeface="Arial"/>
                          <a:ea typeface="Arial"/>
                          <a:cs typeface="Arial"/>
                        </a:rPr>
                        <a:t>2. Chuẩn hóa</a:t>
                      </a:r>
                    </a:p>
                  </a:txBody>
                  <a:tcPr marL="142875" marR="142875" marT="114300" marB="85725" anchor="ctr">
                    <a:solidFill>
                      <a:srgbClr val="EDF2F0"/>
                    </a:solidFill>
                  </a:tcPr>
                </a:tc>
                <a:tc>
                  <a:txBody>
                    <a:bodyPr/>
                    <a:lstStyle/>
                    <a:p>
                      <a:r>
                        <a:rPr sz="1800" b="0">
                          <a:solidFill>
                            <a:srgbClr val="142D3B"/>
                          </a:solidFill>
                          <a:latin typeface="Arial"/>
                          <a:ea typeface="Arial"/>
                          <a:cs typeface="Arial"/>
                        </a:rPr>
                        <a:t>Rule + engineer</a:t>
                      </a:r>
                    </a:p>
                  </a:txBody>
                  <a:tcPr marL="142875" marR="142875" marT="114300" marB="85725" anchor="ctr">
                    <a:solidFill>
                      <a:srgbClr val="EDF2F0"/>
                    </a:solidFill>
                  </a:tcPr>
                </a:tc>
                <a:tc>
                  <a:txBody>
                    <a:bodyPr/>
                    <a:lstStyle/>
                    <a:p>
                      <a:r>
                        <a:rPr sz="1800" b="0">
                          <a:solidFill>
                            <a:srgbClr val="142D3B"/>
                          </a:solidFill>
                          <a:latin typeface="Arial"/>
                          <a:ea typeface="Arial"/>
                          <a:cs typeface="Arial"/>
                        </a:rPr>
                        <a:t>Task ID, trạng thái và nguồn đã đối chiếu</a:t>
                      </a:r>
                    </a:p>
                  </a:txBody>
                  <a:tcPr marL="142875" marR="142875" marT="114300" marB="85725" anchor="ctr">
                    <a:solidFill>
                      <a:srgbClr val="EDF2F0"/>
                    </a:solidFill>
                  </a:tcPr>
                </a:tc>
              </a:tr>
              <a:tr h="579664">
                <a:tc>
                  <a:txBody>
                    <a:bodyPr/>
                    <a:lstStyle/>
                    <a:p>
                      <a:r>
                        <a:rPr sz="1800" b="0">
                          <a:solidFill>
                            <a:srgbClr val="142D3B"/>
                          </a:solidFill>
                          <a:latin typeface="Arial"/>
                          <a:ea typeface="Arial"/>
                          <a:cs typeface="Arial"/>
                        </a:rPr>
                        <a:t>3. Viết bản nháp</a:t>
                      </a:r>
                    </a:p>
                  </a:txBody>
                  <a:tcPr marL="142875" marR="142875" marT="114300" marB="85725" anchor="ctr">
                    <a:solidFill>
                      <a:srgbClr val="FFFFFF"/>
                    </a:solidFill>
                  </a:tcPr>
                </a:tc>
                <a:tc>
                  <a:txBody>
                    <a:bodyPr/>
                    <a:lstStyle/>
                    <a:p>
                      <a:r>
                        <a:rPr sz="1800" b="0">
                          <a:solidFill>
                            <a:srgbClr val="142D3B"/>
                          </a:solidFill>
                          <a:latin typeface="Arial"/>
                          <a:ea typeface="Arial"/>
                          <a:cs typeface="Arial"/>
                        </a:rPr>
                        <a:t>AI</a:t>
                      </a:r>
                    </a:p>
                  </a:txBody>
                  <a:tcPr marL="142875" marR="142875" marT="114300" marB="85725" anchor="ctr">
                    <a:solidFill>
                      <a:srgbClr val="FFFFFF"/>
                    </a:solidFill>
                  </a:tcPr>
                </a:tc>
                <a:tc>
                  <a:txBody>
                    <a:bodyPr/>
                    <a:lstStyle/>
                    <a:p>
                      <a:r>
                        <a:rPr sz="1800" b="0">
                          <a:solidFill>
                            <a:srgbClr val="142D3B"/>
                          </a:solidFill>
                          <a:latin typeface="Arial"/>
                          <a:ea typeface="Arial"/>
                          <a:cs typeface="Arial"/>
                        </a:rPr>
                        <a:t>Diễn giải theo mẫu, kèm nguồn</a:t>
                      </a:r>
                    </a:p>
                  </a:txBody>
                  <a:tcPr marL="142875" marR="142875" marT="114300" marB="85725" anchor="ctr">
                    <a:solidFill>
                      <a:srgbClr val="FFFFFF"/>
                    </a:solidFill>
                  </a:tcPr>
                </a:tc>
              </a:tr>
              <a:tr h="579664">
                <a:tc>
                  <a:txBody>
                    <a:bodyPr/>
                    <a:lstStyle/>
                    <a:p>
                      <a:r>
                        <a:rPr sz="1800" b="0">
                          <a:solidFill>
                            <a:srgbClr val="142D3B"/>
                          </a:solidFill>
                          <a:latin typeface="Arial"/>
                          <a:ea typeface="Arial"/>
                          <a:cs typeface="Arial"/>
                        </a:rPr>
                        <a:t>4. Kiểm tra và sửa</a:t>
                      </a:r>
                    </a:p>
                  </a:txBody>
                  <a:tcPr marL="142875" marR="142875" marT="114300" marB="85725" anchor="ctr">
                    <a:solidFill>
                      <a:srgbClr val="EDF2F0"/>
                    </a:solidFill>
                  </a:tcPr>
                </a:tc>
                <a:tc>
                  <a:txBody>
                    <a:bodyPr/>
                    <a:lstStyle/>
                    <a:p>
                      <a:r>
                        <a:rPr sz="1800" b="0">
                          <a:solidFill>
                            <a:srgbClr val="142D3B"/>
                          </a:solidFill>
                          <a:latin typeface="Arial"/>
                          <a:ea typeface="Arial"/>
                          <a:cs typeface="Arial"/>
                        </a:rPr>
                        <a:t>Engineer</a:t>
                      </a:r>
                    </a:p>
                  </a:txBody>
                  <a:tcPr marL="142875" marR="142875" marT="114300" marB="85725" anchor="ctr">
                    <a:solidFill>
                      <a:srgbClr val="EDF2F0"/>
                    </a:solidFill>
                  </a:tcPr>
                </a:tc>
                <a:tc>
                  <a:txBody>
                    <a:bodyPr/>
                    <a:lstStyle/>
                    <a:p>
                      <a:r>
                        <a:rPr sz="1800" b="0">
                          <a:solidFill>
                            <a:srgbClr val="142D3B"/>
                          </a:solidFill>
                          <a:latin typeface="Arial"/>
                          <a:ea typeface="Arial"/>
                          <a:cs typeface="Arial"/>
                        </a:rPr>
                        <a:t>Đúng nội dung, đủ task quan trọng</a:t>
                      </a:r>
                    </a:p>
                  </a:txBody>
                  <a:tcPr marL="142875" marR="142875" marT="114300" marB="85725" anchor="ctr">
                    <a:solidFill>
                      <a:srgbClr val="EDF2F0"/>
                    </a:solidFill>
                  </a:tcPr>
                </a:tc>
              </a:tr>
              <a:tr h="579664">
                <a:tc>
                  <a:txBody>
                    <a:bodyPr/>
                    <a:lstStyle/>
                    <a:p>
                      <a:r>
                        <a:rPr sz="1800" b="0">
                          <a:solidFill>
                            <a:srgbClr val="142D3B"/>
                          </a:solidFill>
                          <a:latin typeface="Arial"/>
                          <a:ea typeface="Arial"/>
                          <a:cs typeface="Arial"/>
                        </a:rPr>
                        <a:t>5. Chuyển định dạng</a:t>
                      </a:r>
                    </a:p>
                  </a:txBody>
                  <a:tcPr marL="142875" marR="142875" marT="114300" marB="85725" anchor="ctr">
                    <a:solidFill>
                      <a:srgbClr val="FFFFFF"/>
                    </a:solidFill>
                  </a:tcPr>
                </a:tc>
                <a:tc>
                  <a:txBody>
                    <a:bodyPr/>
                    <a:lstStyle/>
                    <a:p>
                      <a:r>
                        <a:rPr sz="1800" b="0">
                          <a:solidFill>
                            <a:srgbClr val="142D3B"/>
                          </a:solidFill>
                          <a:latin typeface="Arial"/>
                          <a:ea typeface="Arial"/>
                          <a:cs typeface="Arial"/>
                        </a:rPr>
                        <a:t>Engineer / template</a:t>
                      </a:r>
                    </a:p>
                  </a:txBody>
                  <a:tcPr marL="142875" marR="142875" marT="114300" marB="85725" anchor="ctr">
                    <a:solidFill>
                      <a:srgbClr val="FFFFFF"/>
                    </a:solidFill>
                  </a:tcPr>
                </a:tc>
                <a:tc>
                  <a:txBody>
                    <a:bodyPr/>
                    <a:lstStyle/>
                    <a:p>
                      <a:r>
                        <a:rPr sz="1800" b="0">
                          <a:solidFill>
                            <a:srgbClr val="142D3B"/>
                          </a:solidFill>
                          <a:latin typeface="Arial"/>
                          <a:ea typeface="Arial"/>
                          <a:cs typeface="Arial"/>
                        </a:rPr>
                        <a:t>Excel hoặc phiếu nếu vẫn bắt buộc</a:t>
                      </a:r>
                    </a:p>
                  </a:txBody>
                  <a:tcPr marL="142875" marR="142875" marT="114300" marB="85725" anchor="ctr">
                    <a:solidFill>
                      <a:srgbClr val="FFFFFF"/>
                    </a:solidFill>
                  </a:tcPr>
                </a:tc>
              </a:tr>
              <a:tr h="579664">
                <a:tc>
                  <a:txBody>
                    <a:bodyPr/>
                    <a:lstStyle/>
                    <a:p>
                      <a:r>
                        <a:rPr sz="1800" b="0">
                          <a:solidFill>
                            <a:srgbClr val="142D3B"/>
                          </a:solidFill>
                          <a:latin typeface="Arial"/>
                          <a:ea typeface="Arial"/>
                          <a:cs typeface="Arial"/>
                        </a:rPr>
                        <a:t>6. Gửi và chỉnh sửa</a:t>
                      </a:r>
                    </a:p>
                  </a:txBody>
                  <a:tcPr marL="142875" marR="142875" marT="114300" marB="85725" anchor="ctr">
                    <a:solidFill>
                      <a:srgbClr val="EDF2F0"/>
                    </a:solidFill>
                  </a:tcPr>
                </a:tc>
                <a:tc>
                  <a:txBody>
                    <a:bodyPr/>
                    <a:lstStyle/>
                    <a:p>
                      <a:r>
                        <a:rPr sz="1800" b="0">
                          <a:solidFill>
                            <a:srgbClr val="142D3B"/>
                          </a:solidFill>
                          <a:latin typeface="Arial"/>
                          <a:ea typeface="Arial"/>
                          <a:cs typeface="Arial"/>
                        </a:rPr>
                        <a:t>Engineer + quản lý</a:t>
                      </a:r>
                    </a:p>
                  </a:txBody>
                  <a:tcPr marL="142875" marR="142875" marT="114300" marB="85725" anchor="ctr">
                    <a:solidFill>
                      <a:srgbClr val="EDF2F0"/>
                    </a:solidFill>
                  </a:tcPr>
                </a:tc>
                <a:tc>
                  <a:txBody>
                    <a:bodyPr/>
                    <a:lstStyle/>
                    <a:p>
                      <a:r>
                        <a:rPr sz="1800" b="0">
                          <a:solidFill>
                            <a:srgbClr val="142D3B"/>
                          </a:solidFill>
                          <a:latin typeface="Arial"/>
                          <a:ea typeface="Arial"/>
                          <a:cs typeface="Arial"/>
                        </a:rPr>
                        <a:t>Bản cuối theo phản hồi</a:t>
                      </a:r>
                    </a:p>
                  </a:txBody>
                  <a:tcPr marL="142875" marR="142875" marT="114300" marB="85725" anchor="ctr">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6ADB0DC0-E826-49CB-9595-EA8438B62EE8}"/>
              </a:ext>
            </a:extLst>
          </p:cNvPr>
          <p:cNvSpPr>
            <a:spLocks xmlns:a="http://schemas.openxmlformats.org/drawingml/2006/main" noGrp="1"/>
          </p:cNvSpPr>
          <p:nvPr/>
        </p:nvSpPr>
        <p:spPr>
          <a:xfrm xmlns:a="http://schemas.openxmlformats.org/drawingml/2006/main">
            <a:off x="609600" y="58959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F73"/>
                </a:solidFill>
                <a:latin typeface="Arial"/>
                <a:ea typeface="Arial"/>
                <a:cs typeface="Arial"/>
              </a:defRPr>
            </a:pPr>
            <a:r>
              <a:rPr sz="1950" b="1">
                <a:solidFill>
                  <a:srgbClr val="007F73"/>
                </a:solidFill>
                <a:latin typeface="Arial"/>
                <a:ea typeface="Arial"/>
                <a:cs typeface="Arial"/>
              </a:rPr>
              <a:t>AI chỉ dùng nguồn đã chọn. Engineer quyết định nội dung cuối và tự gửi.</a:t>
            </a:r>
          </a:p>
        </p:txBody>
      </p:sp>
    </p:spTree>
    <p:extLst>
      <p:ext uri="{BB962C8B-B14F-4D97-AF65-F5344CB8AC3E}">
        <p14:creationId xmlns:p14="http://schemas.microsoft.com/office/powerpoint/2010/main" val="120260571"/>
      </p:ext>
    </p:extLst>
  </p:cSld>
</p:sld>
</file>

<file path=ppt/slides/slide6.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8CFAE4-FBBF-4F1F-AC49-FED1405FE12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Template, AI Workflow hay Agent?</a:t>
            </a:r>
          </a:p>
        </p:txBody>
      </p:sp>
      <p:sp>
        <p:nvSpPr>
          <p:cNvPr id="2" name="">
            <a:extLst xmlns:a="http://schemas.openxmlformats.org/drawingml/2006/main">
              <a:ext uri="{FF2B5EF4-FFF2-40B4-BE49-F238E27FC236}">
                <a16:creationId xmlns:a16="http://schemas.microsoft.com/office/drawing/2014/main" id="{87EEDEF6-744E-4ADF-A5E8-5B0D94E24BCD}"/>
              </a:ext>
            </a:extLst>
          </p:cNvPr>
          <p:cNvSpPr>
            <a:spLocks xmlns:a="http://schemas.openxmlformats.org/drawingml/2006/main" noGrp="1"/>
          </p:cNvSpPr>
          <p:nvPr/>
        </p:nvSpPr>
        <p:spPr>
          <a:xfrm xmlns:a="http://schemas.openxmlformats.org/drawingml/2006/main">
            <a:off x="11010900" y="63531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06</a:t>
            </a:r>
          </a:p>
        </p:txBody>
      </p:sp>
      <p:graphicFrame>
        <p:nvGraphicFramePr>
          <p:cNvPr id="8" name=""/>
          <p:cNvGraphicFramePr/>
          <p:nvPr/>
        </p:nvGraphicFramePr>
        <p:xfrm>
          <a:off xmlns:a="http://schemas.openxmlformats.org/drawingml/2006/main" x="609600" y="1714500"/>
          <a:ext xmlns:a="http://schemas.openxmlformats.org/drawingml/2006/main" cx="10972800" cy="3048000"/>
        </p:xfrm>
        <a:graphic xmlns:a="http://schemas.openxmlformats.org/drawingml/2006/main">
          <a:graphicData uri="http://schemas.openxmlformats.org/drawingml/2006/table">
            <a:tbl>
              <a:tblPr/>
              <a:tblGrid>
                <a:gridCol w="2476500"/>
                <a:gridCol w="4267200"/>
                <a:gridCol w="4229100"/>
              </a:tblGrid>
              <a:tr h="762000">
                <a:tc>
                  <a:txBody>
                    <a:bodyPr/>
                    <a:lstStyle/>
                    <a:p>
                      <a:r>
                        <a:rPr sz="1950" b="1">
                          <a:solidFill>
                            <a:srgbClr val="FFFFFF"/>
                          </a:solidFill>
                          <a:latin typeface="Arial"/>
                          <a:ea typeface="Arial"/>
                          <a:cs typeface="Arial"/>
                        </a:rPr>
                        <a:t>Phương án</a:t>
                      </a:r>
                    </a:p>
                  </a:txBody>
                  <a:tcPr marL="142875" marR="142875" marT="114300" marB="85725" anchor="ctr">
                    <a:solidFill>
                      <a:srgbClr val="142D3B"/>
                    </a:solidFill>
                  </a:tcPr>
                </a:tc>
                <a:tc>
                  <a:txBody>
                    <a:bodyPr/>
                    <a:lstStyle/>
                    <a:p>
                      <a:r>
                        <a:rPr sz="1950" b="1">
                          <a:solidFill>
                            <a:srgbClr val="FFFFFF"/>
                          </a:solidFill>
                          <a:latin typeface="Arial"/>
                          <a:ea typeface="Arial"/>
                          <a:cs typeface="Arial"/>
                        </a:rPr>
                        <a:t>Phạm vi</a:t>
                      </a:r>
                    </a:p>
                  </a:txBody>
                  <a:tcPr marL="142875" marR="142875" marT="114300" marB="85725" anchor="ctr">
                    <a:solidFill>
                      <a:srgbClr val="142D3B"/>
                    </a:solidFill>
                  </a:tcPr>
                </a:tc>
                <a:tc>
                  <a:txBody>
                    <a:bodyPr/>
                    <a:lstStyle/>
                    <a:p>
                      <a:r>
                        <a:rPr sz="1950" b="1">
                          <a:solidFill>
                            <a:srgbClr val="FFFFFF"/>
                          </a:solidFill>
                          <a:latin typeface="Arial"/>
                          <a:ea typeface="Arial"/>
                          <a:cs typeface="Arial"/>
                        </a:rPr>
                        <a:t>Đánh giá</a:t>
                      </a:r>
                    </a:p>
                  </a:txBody>
                  <a:tcPr marL="142875" marR="142875" marT="114300" marB="85725" anchor="ctr">
                    <a:solidFill>
                      <a:srgbClr val="142D3B"/>
                    </a:solidFill>
                  </a:tcPr>
                </a:tc>
              </a:tr>
              <a:tr h="762000">
                <a:tc>
                  <a:txBody>
                    <a:bodyPr/>
                    <a:lstStyle/>
                    <a:p>
                      <a:r>
                        <a:rPr sz="1950" b="0">
                          <a:solidFill>
                            <a:srgbClr val="142D3B"/>
                          </a:solidFill>
                          <a:latin typeface="Arial"/>
                          <a:ea typeface="Arial"/>
                          <a:cs typeface="Arial"/>
                        </a:rPr>
                        <a:t>No AI / Rule</a:t>
                      </a:r>
                    </a:p>
                  </a:txBody>
                  <a:tcPr marL="142875" marR="142875" marT="114300" marB="85725" anchor="ctr">
                    <a:solidFill>
                      <a:srgbClr val="FFFFFF"/>
                    </a:solidFill>
                  </a:tcPr>
                </a:tc>
                <a:tc>
                  <a:txBody>
                    <a:bodyPr/>
                    <a:lstStyle/>
                    <a:p>
                      <a:r>
                        <a:rPr sz="1950" b="0">
                          <a:solidFill>
                            <a:srgbClr val="142D3B"/>
                          </a:solidFill>
                          <a:latin typeface="Arial"/>
                          <a:ea typeface="Arial"/>
                          <a:cs typeface="Arial"/>
                        </a:rPr>
                        <a:t>Một bảng task, template cố định, checklist</a:t>
                      </a:r>
                    </a:p>
                  </a:txBody>
                  <a:tcPr marL="142875" marR="142875" marT="114300" marB="85725" anchor="ctr">
                    <a:solidFill>
                      <a:srgbClr val="FFFFFF"/>
                    </a:solidFill>
                  </a:tcPr>
                </a:tc>
                <a:tc>
                  <a:txBody>
                    <a:bodyPr/>
                    <a:lstStyle/>
                    <a:p>
                      <a:r>
                        <a:rPr sz="1950" b="0">
                          <a:solidFill>
                            <a:srgbClr val="142D3B"/>
                          </a:solidFill>
                          <a:latin typeface="Arial"/>
                          <a:ea typeface="Arial"/>
                          <a:cs typeface="Arial"/>
                        </a:rPr>
                        <a:t>Đủ nếu người nhận chấp nhận nội dung chuẩn</a:t>
                      </a:r>
                    </a:p>
                  </a:txBody>
                  <a:tcPr marL="142875" marR="142875" marT="114300" marB="85725" anchor="ctr">
                    <a:solidFill>
                      <a:srgbClr val="FFFFFF"/>
                    </a:solidFill>
                  </a:tcPr>
                </a:tc>
              </a:tr>
              <a:tr h="762000">
                <a:tc>
                  <a:txBody>
                    <a:bodyPr/>
                    <a:lstStyle/>
                    <a:p>
                      <a:r>
                        <a:rPr sz="1950" b="0">
                          <a:solidFill>
                            <a:srgbClr val="142D3B"/>
                          </a:solidFill>
                          <a:latin typeface="Arial"/>
                          <a:ea typeface="Arial"/>
                          <a:cs typeface="Arial"/>
                        </a:rPr>
                        <a:t>Workflow có AI</a:t>
                      </a:r>
                    </a:p>
                  </a:txBody>
                  <a:tcPr marL="142875" marR="142875" marT="114300" marB="85725" anchor="ctr">
                    <a:solidFill>
                      <a:srgbClr val="EDF2F0"/>
                    </a:solidFill>
                  </a:tcPr>
                </a:tc>
                <a:tc>
                  <a:txBody>
                    <a:bodyPr/>
                    <a:lstStyle/>
                    <a:p>
                      <a:r>
                        <a:rPr sz="1950" b="0">
                          <a:solidFill>
                            <a:srgbClr val="142D3B"/>
                          </a:solidFill>
                          <a:latin typeface="Arial"/>
                          <a:ea typeface="Arial"/>
                          <a:cs typeface="Arial"/>
                        </a:rPr>
                        <a:t>Nguồn chuẩn, AI draft, engineer duyệt</a:t>
                      </a:r>
                    </a:p>
                  </a:txBody>
                  <a:tcPr marL="142875" marR="142875" marT="114300" marB="85725" anchor="ctr">
                    <a:solidFill>
                      <a:srgbClr val="EDF2F0"/>
                    </a:solidFill>
                  </a:tcPr>
                </a:tc>
                <a:tc>
                  <a:txBody>
                    <a:bodyPr/>
                    <a:lstStyle/>
                    <a:p>
                      <a:r>
                        <a:rPr sz="1950" b="0">
                          <a:solidFill>
                            <a:srgbClr val="142D3B"/>
                          </a:solidFill>
                          <a:latin typeface="Arial"/>
                          <a:ea typeface="Arial"/>
                          <a:cs typeface="Arial"/>
                        </a:rPr>
                        <a:t>Đề xuất thử khi vẫn cần diễn giải theo ngữ cảnh</a:t>
                      </a:r>
                    </a:p>
                  </a:txBody>
                  <a:tcPr marL="142875" marR="142875" marT="114300" marB="85725" anchor="ctr">
                    <a:solidFill>
                      <a:srgbClr val="EDF2F0"/>
                    </a:solidFill>
                  </a:tcPr>
                </a:tc>
              </a:tr>
              <a:tr h="762000">
                <a:tc>
                  <a:txBody>
                    <a:bodyPr/>
                    <a:lstStyle/>
                    <a:p>
                      <a:r>
                        <a:rPr sz="1950" b="0">
                          <a:solidFill>
                            <a:srgbClr val="142D3B"/>
                          </a:solidFill>
                          <a:latin typeface="Arial"/>
                          <a:ea typeface="Arial"/>
                          <a:cs typeface="Arial"/>
                        </a:rPr>
                        <a:t>Agent</a:t>
                      </a:r>
                    </a:p>
                  </a:txBody>
                  <a:tcPr marL="142875" marR="142875" marT="114300" marB="85725" anchor="ctr">
                    <a:solidFill>
                      <a:srgbClr val="FFFFFF"/>
                    </a:solidFill>
                  </a:tcPr>
                </a:tc>
                <a:tc>
                  <a:txBody>
                    <a:bodyPr/>
                    <a:lstStyle/>
                    <a:p>
                      <a:r>
                        <a:rPr sz="1950" b="0">
                          <a:solidFill>
                            <a:srgbClr val="142D3B"/>
                          </a:solidFill>
                          <a:latin typeface="Arial"/>
                          <a:ea typeface="Arial"/>
                          <a:cs typeface="Arial"/>
                        </a:rPr>
                        <a:t>Tự lấy dữ liệu, tự chọn bước và tự gửi</a:t>
                      </a:r>
                    </a:p>
                  </a:txBody>
                  <a:tcPr marL="142875" marR="142875" marT="114300" marB="85725" anchor="ctr">
                    <a:solidFill>
                      <a:srgbClr val="FFFFFF"/>
                    </a:solidFill>
                  </a:tcPr>
                </a:tc>
                <a:tc>
                  <a:txBody>
                    <a:bodyPr/>
                    <a:lstStyle/>
                    <a:p>
                      <a:r>
                        <a:rPr sz="1950" b="0">
                          <a:solidFill>
                            <a:srgbClr val="142D3B"/>
                          </a:solidFill>
                          <a:latin typeface="Arial"/>
                          <a:ea typeface="Arial"/>
                          <a:cs typeface="Arial"/>
                        </a:rPr>
                        <a:t>Chưa cần cho luồng báo cáo cố định</a:t>
                      </a:r>
                    </a:p>
                  </a:txBody>
                  <a:tcPr marL="142875" marR="142875" marT="11430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4340779-3B5D-4C4C-83E0-E3078D2D1A48}"/>
              </a:ext>
            </a:extLst>
          </p:cNvPr>
          <p:cNvSpPr>
            <a:spLocks xmlns:a="http://schemas.openxmlformats.org/drawingml/2006/main" noGrp="1"/>
          </p:cNvSpPr>
          <p:nvPr/>
        </p:nvSpPr>
        <p:spPr>
          <a:xfrm xmlns:a="http://schemas.openxmlformats.org/drawingml/2006/main">
            <a:off x="609600" y="52197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7F73"/>
                </a:solidFill>
                <a:latin typeface="Arial"/>
                <a:ea typeface="Arial"/>
                <a:cs typeface="Arial"/>
              </a:defRPr>
            </a:pPr>
            <a:r>
              <a:rPr sz="2400" b="1">
                <a:solidFill>
                  <a:srgbClr val="007F73"/>
                </a:solidFill>
                <a:latin typeface="Arial"/>
                <a:ea typeface="Arial"/>
                <a:cs typeface="Arial"/>
              </a:rPr>
              <a:t>Bài thử cần so sánh trực tiếp với template/checklist.</a:t>
            </a:r>
          </a:p>
        </p:txBody>
      </p:sp>
      <p:sp>
        <p:nvSpPr>
          <p:cNvPr id="5" name="">
            <a:extLst xmlns:a="http://schemas.openxmlformats.org/drawingml/2006/main">
              <a:ext uri="{FF2B5EF4-FFF2-40B4-BE49-F238E27FC236}">
                <a16:creationId xmlns:a16="http://schemas.microsoft.com/office/drawing/2014/main" id="{3C2EA205-A4BA-4F63-B436-69880DCF8867}"/>
              </a:ext>
            </a:extLst>
          </p:cNvPr>
          <p:cNvSpPr>
            <a:spLocks xmlns:a="http://schemas.openxmlformats.org/drawingml/2006/main" noGrp="1"/>
          </p:cNvSpPr>
          <p:nvPr/>
        </p:nvSpPr>
        <p:spPr>
          <a:xfrm xmlns:a="http://schemas.openxmlformats.org/drawingml/2006/main">
            <a:off x="6096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Chỉ giữ AI khi tổng thời gian giảm và chất lượng vẫn đạt.</a:t>
            </a:r>
          </a:p>
        </p:txBody>
      </p:sp>
    </p:spTree>
    <p:extLst>
      <p:ext uri="{BB962C8B-B14F-4D97-AF65-F5344CB8AC3E}">
        <p14:creationId xmlns:p14="http://schemas.microsoft.com/office/powerpoint/2010/main" val="1945533437"/>
      </p:ext>
    </p:extLst>
  </p:cSld>
</p:sld>
</file>

<file path=ppt/slides/slide7.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6A88E0-FD08-4301-B172-09AB2EF844D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Phương pháp đánh giá và đo lường</a:t>
            </a:r>
          </a:p>
        </p:txBody>
      </p:sp>
      <p:sp>
        <p:nvSpPr>
          <p:cNvPr id="2" name="">
            <a:extLst xmlns:a="http://schemas.openxmlformats.org/drawingml/2006/main">
              <a:ext uri="{FF2B5EF4-FFF2-40B4-BE49-F238E27FC236}">
                <a16:creationId xmlns:a16="http://schemas.microsoft.com/office/drawing/2014/main" id="{EE3D8C93-DB58-4BA2-9637-7AFED8A85E76}"/>
              </a:ext>
            </a:extLst>
          </p:cNvPr>
          <p:cNvSpPr>
            <a:spLocks xmlns:a="http://schemas.openxmlformats.org/drawingml/2006/main" noGrp="1"/>
          </p:cNvSpPr>
          <p:nvPr/>
        </p:nvSpPr>
        <p:spPr>
          <a:xfrm xmlns:a="http://schemas.openxmlformats.org/drawingml/2006/main">
            <a:off x="11010900" y="63531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0B188BF-278B-4874-BE05-5591F1B265AF}"/>
              </a:ext>
            </a:extLst>
          </p:cNvPr>
          <p:cNvSpPr>
            <a:spLocks xmlns:a="http://schemas.openxmlformats.org/drawingml/2006/main" noGrp="1"/>
          </p:cNvSpPr>
          <p:nvPr/>
        </p:nvSpPr>
        <p:spPr>
          <a:xfrm xmlns:a="http://schemas.openxmlformats.org/drawingml/2006/main">
            <a:off x="609600" y="134302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2 tháng lịch sử, cùng đầu vào và yêu cầu đầu ra cho template và AI Workflow.</a:t>
            </a:r>
          </a:p>
        </p:txBody>
      </p:sp>
      <p:graphicFrame>
        <p:nvGraphicFramePr>
          <p:cNvPr id="9" name=""/>
          <p:cNvGraphicFramePr/>
          <p:nvPr/>
        </p:nvGraphicFramePr>
        <p:xfrm>
          <a:off xmlns:a="http://schemas.openxmlformats.org/drawingml/2006/main" x="609600" y="2238375"/>
          <a:ext xmlns:a="http://schemas.openxmlformats.org/drawingml/2006/main" cx="10972800" cy="3143250"/>
        </p:xfrm>
        <a:graphic xmlns:a="http://schemas.openxmlformats.org/drawingml/2006/main">
          <a:graphicData uri="http://schemas.openxmlformats.org/drawingml/2006/table">
            <a:tbl>
              <a:tblPr/>
              <a:tblGrid>
                <a:gridCol w="2381250"/>
                <a:gridCol w="3905250"/>
                <a:gridCol w="4686300"/>
              </a:tblGrid>
              <a:tr h="523875">
                <a:tc>
                  <a:txBody>
                    <a:bodyPr/>
                    <a:lstStyle/>
                    <a:p>
                      <a:r>
                        <a:rPr sz="1725" b="1">
                          <a:solidFill>
                            <a:srgbClr val="FFFFFF"/>
                          </a:solidFill>
                          <a:latin typeface="Arial"/>
                          <a:ea typeface="Arial"/>
                          <a:cs typeface="Arial"/>
                        </a:rPr>
                        <a:t>Chỉ số</a:t>
                      </a:r>
                    </a:p>
                  </a:txBody>
                  <a:tcPr marL="142875" marR="142875" marT="114300" marB="85725" anchor="ctr">
                    <a:solidFill>
                      <a:srgbClr val="142D3B"/>
                    </a:solidFill>
                  </a:tcPr>
                </a:tc>
                <a:tc>
                  <a:txBody>
                    <a:bodyPr/>
                    <a:lstStyle/>
                    <a:p>
                      <a:r>
                        <a:rPr sz="1725" b="1">
                          <a:solidFill>
                            <a:srgbClr val="FFFFFF"/>
                          </a:solidFill>
                          <a:latin typeface="Arial"/>
                          <a:ea typeface="Arial"/>
                          <a:cs typeface="Arial"/>
                        </a:rPr>
                        <a:t>Mục tiêu pilot</a:t>
                      </a:r>
                    </a:p>
                  </a:txBody>
                  <a:tcPr marL="142875" marR="142875" marT="114300" marB="85725" anchor="ctr">
                    <a:solidFill>
                      <a:srgbClr val="142D3B"/>
                    </a:solidFill>
                  </a:tcPr>
                </a:tc>
                <a:tc>
                  <a:txBody>
                    <a:bodyPr/>
                    <a:lstStyle/>
                    <a:p>
                      <a:r>
                        <a:rPr sz="1725" b="1">
                          <a:solidFill>
                            <a:srgbClr val="FFFFFF"/>
                          </a:solidFill>
                          <a:latin typeface="Arial"/>
                          <a:ea typeface="Arial"/>
                          <a:cs typeface="Arial"/>
                        </a:rPr>
                        <a:t>Cách đo</a:t>
                      </a:r>
                    </a:p>
                  </a:txBody>
                  <a:tcPr marL="142875" marR="142875" marT="114300" marB="85725" anchor="ctr">
                    <a:solidFill>
                      <a:srgbClr val="142D3B"/>
                    </a:solidFill>
                  </a:tcPr>
                </a:tc>
              </a:tr>
              <a:tr h="523875">
                <a:tc>
                  <a:txBody>
                    <a:bodyPr/>
                    <a:lstStyle/>
                    <a:p>
                      <a:r>
                        <a:rPr sz="1725" b="0">
                          <a:solidFill>
                            <a:srgbClr val="142D3B"/>
                          </a:solidFill>
                          <a:latin typeface="Arial"/>
                          <a:ea typeface="Arial"/>
                          <a:cs typeface="Arial"/>
                        </a:rPr>
                        <a:t>Tổng thời gian</a:t>
                      </a:r>
                    </a:p>
                  </a:txBody>
                  <a:tcPr marL="142875" marR="142875" marT="114300" marB="85725" anchor="ctr">
                    <a:solidFill>
                      <a:srgbClr val="FFFFFF"/>
                    </a:solidFill>
                  </a:tcPr>
                </a:tc>
                <a:tc>
                  <a:txBody>
                    <a:bodyPr/>
                    <a:lstStyle/>
                    <a:p>
                      <a:r>
                        <a:rPr sz="1725" b="0">
                          <a:solidFill>
                            <a:srgbClr val="142D3B"/>
                          </a:solidFill>
                          <a:latin typeface="Arial"/>
                          <a:ea typeface="Arial"/>
                          <a:cs typeface="Arial"/>
                        </a:rPr>
                        <a:t>Dưới 45 phút / report</a:t>
                      </a:r>
                    </a:p>
                  </a:txBody>
                  <a:tcPr marL="142875" marR="142875" marT="114300" marB="85725" anchor="ctr">
                    <a:solidFill>
                      <a:srgbClr val="FFFFFF"/>
                    </a:solidFill>
                  </a:tcPr>
                </a:tc>
                <a:tc>
                  <a:txBody>
                    <a:bodyPr/>
                    <a:lstStyle/>
                    <a:p>
                      <a:r>
                        <a:rPr sz="1725" b="0">
                          <a:solidFill>
                            <a:srgbClr val="142D3B"/>
                          </a:solidFill>
                          <a:latin typeface="Arial"/>
                          <a:ea typeface="Arial"/>
                          <a:cs typeface="Arial"/>
                        </a:rPr>
                        <a:t>Tính cả chuẩn bị, review, copy và sửa</a:t>
                      </a:r>
                    </a:p>
                  </a:txBody>
                  <a:tcPr marL="142875" marR="142875" marT="114300" marB="85725" anchor="ctr">
                    <a:solidFill>
                      <a:srgbClr val="FFFFFF"/>
                    </a:solidFill>
                  </a:tcPr>
                </a:tc>
              </a:tr>
              <a:tr h="523875">
                <a:tc>
                  <a:txBody>
                    <a:bodyPr/>
                    <a:lstStyle/>
                    <a:p>
                      <a:r>
                        <a:rPr sz="1725" b="0">
                          <a:solidFill>
                            <a:srgbClr val="142D3B"/>
                          </a:solidFill>
                          <a:latin typeface="Arial"/>
                          <a:ea typeface="Arial"/>
                          <a:cs typeface="Arial"/>
                        </a:rPr>
                        <a:t>Độ đúng</a:t>
                      </a:r>
                    </a:p>
                  </a:txBody>
                  <a:tcPr marL="142875" marR="142875" marT="114300" marB="85725" anchor="ctr">
                    <a:solidFill>
                      <a:srgbClr val="EDF2F0"/>
                    </a:solidFill>
                  </a:tcPr>
                </a:tc>
                <a:tc>
                  <a:txBody>
                    <a:bodyPr/>
                    <a:lstStyle/>
                    <a:p>
                      <a:r>
                        <a:rPr sz="1725" b="0">
                          <a:solidFill>
                            <a:srgbClr val="142D3B"/>
                          </a:solidFill>
                          <a:latin typeface="Arial"/>
                          <a:ea typeface="Arial"/>
                          <a:cs typeface="Arial"/>
                        </a:rPr>
                        <a:t>0 nội dung bịa hoặc sai ở bản cuối</a:t>
                      </a:r>
                    </a:p>
                  </a:txBody>
                  <a:tcPr marL="142875" marR="142875" marT="114300" marB="85725" anchor="ctr">
                    <a:solidFill>
                      <a:srgbClr val="EDF2F0"/>
                    </a:solidFill>
                  </a:tcPr>
                </a:tc>
                <a:tc>
                  <a:txBody>
                    <a:bodyPr/>
                    <a:lstStyle/>
                    <a:p>
                      <a:r>
                        <a:rPr sz="1725" b="0">
                          <a:solidFill>
                            <a:srgbClr val="142D3B"/>
                          </a:solidFill>
                          <a:latin typeface="Arial"/>
                          <a:ea typeface="Arial"/>
                          <a:cs typeface="Arial"/>
                        </a:rPr>
                        <a:t>Đối chiếu từng kết luận với nguồn</a:t>
                      </a:r>
                    </a:p>
                  </a:txBody>
                  <a:tcPr marL="142875" marR="142875" marT="114300" marB="85725" anchor="ctr">
                    <a:solidFill>
                      <a:srgbClr val="EDF2F0"/>
                    </a:solidFill>
                  </a:tcPr>
                </a:tc>
              </a:tr>
              <a:tr h="523875">
                <a:tc>
                  <a:txBody>
                    <a:bodyPr/>
                    <a:lstStyle/>
                    <a:p>
                      <a:r>
                        <a:rPr sz="1725" b="0">
                          <a:solidFill>
                            <a:srgbClr val="142D3B"/>
                          </a:solidFill>
                          <a:latin typeface="Arial"/>
                          <a:ea typeface="Arial"/>
                          <a:cs typeface="Arial"/>
                        </a:rPr>
                        <a:t>Độ đầy đủ</a:t>
                      </a:r>
                    </a:p>
                  </a:txBody>
                  <a:tcPr marL="142875" marR="142875" marT="114300" marB="85725" anchor="ctr">
                    <a:solidFill>
                      <a:srgbClr val="FFFFFF"/>
                    </a:solidFill>
                  </a:tcPr>
                </a:tc>
                <a:tc>
                  <a:txBody>
                    <a:bodyPr/>
                    <a:lstStyle/>
                    <a:p>
                      <a:r>
                        <a:rPr sz="1725" b="0">
                          <a:solidFill>
                            <a:srgbClr val="142D3B"/>
                          </a:solidFill>
                          <a:latin typeface="Arial"/>
                          <a:ea typeface="Arial"/>
                          <a:cs typeface="Arial"/>
                        </a:rPr>
                        <a:t>100% task quan trọng</a:t>
                      </a:r>
                    </a:p>
                  </a:txBody>
                  <a:tcPr marL="142875" marR="142875" marT="114300" marB="85725" anchor="ctr">
                    <a:solidFill>
                      <a:srgbClr val="FFFFFF"/>
                    </a:solidFill>
                  </a:tcPr>
                </a:tc>
                <a:tc>
                  <a:txBody>
                    <a:bodyPr/>
                    <a:lstStyle/>
                    <a:p>
                      <a:r>
                        <a:rPr sz="1725" b="0">
                          <a:solidFill>
                            <a:srgbClr val="142D3B"/>
                          </a:solidFill>
                          <a:latin typeface="Arial"/>
                          <a:ea typeface="Arial"/>
                          <a:cs typeface="Arial"/>
                        </a:rPr>
                        <a:t>So với danh sách task đã xác nhận</a:t>
                      </a:r>
                    </a:p>
                  </a:txBody>
                  <a:tcPr marL="142875" marR="142875" marT="114300" marB="85725" anchor="ctr">
                    <a:solidFill>
                      <a:srgbClr val="FFFFFF"/>
                    </a:solidFill>
                  </a:tcPr>
                </a:tc>
              </a:tr>
              <a:tr h="523875">
                <a:tc>
                  <a:txBody>
                    <a:bodyPr/>
                    <a:lstStyle/>
                    <a:p>
                      <a:r>
                        <a:rPr sz="1725" b="0">
                          <a:solidFill>
                            <a:srgbClr val="142D3B"/>
                          </a:solidFill>
                          <a:latin typeface="Arial"/>
                          <a:ea typeface="Arial"/>
                          <a:cs typeface="Arial"/>
                        </a:rPr>
                        <a:t>Nguồn dẫn</a:t>
                      </a:r>
                    </a:p>
                  </a:txBody>
                  <a:tcPr marL="142875" marR="142875" marT="114300" marB="85725" anchor="ctr">
                    <a:solidFill>
                      <a:srgbClr val="EDF2F0"/>
                    </a:solidFill>
                  </a:tcPr>
                </a:tc>
                <a:tc>
                  <a:txBody>
                    <a:bodyPr/>
                    <a:lstStyle/>
                    <a:p>
                      <a:r>
                        <a:rPr sz="1725" b="0">
                          <a:solidFill>
                            <a:srgbClr val="142D3B"/>
                          </a:solidFill>
                          <a:latin typeface="Arial"/>
                          <a:ea typeface="Arial"/>
                          <a:cs typeface="Arial"/>
                        </a:rPr>
                        <a:t>100% nội dung có nguồn hỗ trợ đúng</a:t>
                      </a:r>
                    </a:p>
                  </a:txBody>
                  <a:tcPr marL="142875" marR="142875" marT="114300" marB="85725" anchor="ctr">
                    <a:solidFill>
                      <a:srgbClr val="EDF2F0"/>
                    </a:solidFill>
                  </a:tcPr>
                </a:tc>
                <a:tc>
                  <a:txBody>
                    <a:bodyPr/>
                    <a:lstStyle/>
                    <a:p>
                      <a:r>
                        <a:rPr sz="1725" b="0">
                          <a:solidFill>
                            <a:srgbClr val="142D3B"/>
                          </a:solidFill>
                          <a:latin typeface="Arial"/>
                          <a:ea typeface="Arial"/>
                          <a:cs typeface="Arial"/>
                        </a:rPr>
                        <a:t>Kiểm tra ý nghĩa, không chỉ có link</a:t>
                      </a:r>
                    </a:p>
                  </a:txBody>
                  <a:tcPr marL="142875" marR="142875" marT="114300" marB="85725" anchor="ctr">
                    <a:solidFill>
                      <a:srgbClr val="EDF2F0"/>
                    </a:solidFill>
                  </a:tcPr>
                </a:tc>
              </a:tr>
              <a:tr h="523875">
                <a:tc>
                  <a:txBody>
                    <a:bodyPr/>
                    <a:lstStyle/>
                    <a:p>
                      <a:r>
                        <a:rPr sz="1725" b="0">
                          <a:solidFill>
                            <a:srgbClr val="142D3B"/>
                          </a:solidFill>
                          <a:latin typeface="Arial"/>
                          <a:ea typeface="Arial"/>
                          <a:cs typeface="Arial"/>
                        </a:rPr>
                        <a:t>Yêu cầu làm rõ</a:t>
                      </a:r>
                    </a:p>
                  </a:txBody>
                  <a:tcPr marL="142875" marR="142875" marT="114300" marB="85725" anchor="ctr">
                    <a:solidFill>
                      <a:srgbClr val="FFFFFF"/>
                    </a:solidFill>
                  </a:tcPr>
                </a:tc>
                <a:tc>
                  <a:txBody>
                    <a:bodyPr/>
                    <a:lstStyle/>
                    <a:p>
                      <a:r>
                        <a:rPr sz="1725" b="0">
                          <a:solidFill>
                            <a:srgbClr val="142D3B"/>
                          </a:solidFill>
                          <a:latin typeface="Arial"/>
                          <a:ea typeface="Arial"/>
                          <a:cs typeface="Arial"/>
                        </a:rPr>
                        <a:t>Không tăng so với template</a:t>
                      </a:r>
                    </a:p>
                  </a:txBody>
                  <a:tcPr marL="142875" marR="142875" marT="114300" marB="85725" anchor="ctr">
                    <a:solidFill>
                      <a:srgbClr val="FFFFFF"/>
                    </a:solidFill>
                  </a:tcPr>
                </a:tc>
                <a:tc>
                  <a:txBody>
                    <a:bodyPr/>
                    <a:lstStyle/>
                    <a:p>
                      <a:r>
                        <a:rPr sz="1725" b="0">
                          <a:solidFill>
                            <a:srgbClr val="142D3B"/>
                          </a:solidFill>
                          <a:latin typeface="Arial"/>
                          <a:ea typeface="Arial"/>
                          <a:cs typeface="Arial"/>
                        </a:rPr>
                        <a:t>Cùng người review, cùng tiêu chí</a:t>
                      </a:r>
                    </a:p>
                  </a:txBody>
                  <a:tcPr marL="142875" marR="142875" marT="114300"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3E6224E-9ACF-4E2E-8263-FE83D5997C6C}"/>
              </a:ext>
            </a:extLst>
          </p:cNvPr>
          <p:cNvSpPr>
            <a:spLocks xmlns:a="http://schemas.openxmlformats.org/drawingml/2006/main" noGrp="1"/>
          </p:cNvSpPr>
          <p:nvPr/>
        </p:nvSpPr>
        <p:spPr>
          <a:xfrm xmlns:a="http://schemas.openxmlformats.org/drawingml/2006/main">
            <a:off x="609600" y="5715000"/>
            <a:ext cx="10896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F73"/>
                </a:solidFill>
                <a:latin typeface="Arial"/>
                <a:ea typeface="Arial"/>
                <a:cs typeface="Arial"/>
              </a:defRPr>
            </a:pPr>
            <a:r>
              <a:rPr sz="1950" b="1">
                <a:solidFill>
                  <a:srgbClr val="007F73"/>
                </a:solidFill>
                <a:latin typeface="Arial"/>
                <a:ea typeface="Arial"/>
                <a:cs typeface="Arial"/>
              </a:rPr>
              <a:t>Đạt mục tiêu thời gian chưa đủ. AI phải nhanh hơn template và giữ chất lượng.</a:t>
            </a:r>
          </a:p>
        </p:txBody>
      </p:sp>
    </p:spTree>
    <p:extLst>
      <p:ext uri="{BB962C8B-B14F-4D97-AF65-F5344CB8AC3E}">
        <p14:creationId xmlns:p14="http://schemas.microsoft.com/office/powerpoint/2010/main" val="2017749272"/>
      </p:ext>
    </p:extLst>
  </p:cSld>
</p:sld>
</file>

<file path=ppt/slides/slide8.xml><?xml version="1.0" encoding="utf-8"?>
<p:sld xmlns:p="http://schemas.openxmlformats.org/presentationml/2006/main">
  <p:cSld>
    <p:bg>
      <p:bgPr>
        <a:solidFill xmlns:a="http://schemas.openxmlformats.org/drawingml/2006/main">
          <a:srgbClr val="142D3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D775DA-D353-43ED-A3AB-916D3B88BC1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Go cho pilot nhỏ, có điều kiện</a:t>
            </a:r>
          </a:p>
        </p:txBody>
      </p:sp>
      <p:sp>
        <p:nvSpPr>
          <p:cNvPr id="2" name="">
            <a:extLst xmlns:a="http://schemas.openxmlformats.org/drawingml/2006/main">
              <a:ext uri="{FF2B5EF4-FFF2-40B4-BE49-F238E27FC236}">
                <a16:creationId xmlns:a16="http://schemas.microsoft.com/office/drawing/2014/main" id="{23425A6E-7C55-4C54-9FE6-C9472FA9D6D8}"/>
              </a:ext>
            </a:extLst>
          </p:cNvPr>
          <p:cNvSpPr>
            <a:spLocks xmlns:a="http://schemas.openxmlformats.org/drawingml/2006/main" noGrp="1"/>
          </p:cNvSpPr>
          <p:nvPr/>
        </p:nvSpPr>
        <p:spPr>
          <a:xfrm xmlns:a="http://schemas.openxmlformats.org/drawingml/2006/main">
            <a:off x="11010900" y="63531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A7C9C5"/>
                </a:solidFill>
                <a:latin typeface="Arial"/>
                <a:ea typeface="Arial"/>
                <a:cs typeface="Arial"/>
              </a:defRPr>
            </a:pPr>
            <a:r>
              <a:rPr sz="1350" b="0">
                <a:solidFill>
                  <a:srgbClr val="A7C9C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4F1B77FC-6816-4806-80DC-242AA7057DD2}"/>
              </a:ext>
            </a:extLst>
          </p:cNvPr>
          <p:cNvSpPr>
            <a:spLocks xmlns:a="http://schemas.openxmlformats.org/drawingml/2006/main" noGrp="1"/>
          </p:cNvSpPr>
          <p:nvPr/>
        </p:nvSpPr>
        <p:spPr>
          <a:xfrm xmlns:a="http://schemas.openxmlformats.org/drawingml/2006/main">
            <a:off x="609600" y="16668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300" b="1">
                <a:solidFill>
                  <a:srgbClr val="67D5BE"/>
                </a:solidFill>
                <a:latin typeface="Arial"/>
                <a:ea typeface="Arial"/>
                <a:cs typeface="Arial"/>
              </a:defRPr>
            </a:pPr>
            <a:r>
              <a:rPr sz="6300" b="1">
                <a:solidFill>
                  <a:srgbClr val="67D5BE"/>
                </a:solidFill>
                <a:latin typeface="Arial"/>
                <a:ea typeface="Arial"/>
                <a:cs typeface="Arial"/>
              </a:rPr>
              <a:t>GO</a:t>
            </a:r>
          </a:p>
        </p:txBody>
      </p:sp>
      <p:sp>
        <p:nvSpPr>
          <p:cNvPr id="4" name="">
            <a:extLst xmlns:a="http://schemas.openxmlformats.org/drawingml/2006/main">
              <a:ext uri="{FF2B5EF4-FFF2-40B4-BE49-F238E27FC236}">
                <a16:creationId xmlns:a16="http://schemas.microsoft.com/office/drawing/2014/main" id="{489271F4-9D4C-4FCD-909B-B2E3CDA7F66F}"/>
              </a:ext>
            </a:extLst>
          </p:cNvPr>
          <p:cNvSpPr>
            <a:spLocks xmlns:a="http://schemas.openxmlformats.org/drawingml/2006/main" noGrp="1"/>
          </p:cNvSpPr>
          <p:nvPr/>
        </p:nvSpPr>
        <p:spPr>
          <a:xfrm xmlns:a="http://schemas.openxmlformats.org/drawingml/2006/main">
            <a:off x="3714750" y="1828800"/>
            <a:ext cx="7620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Bắt đầu khi có dữ liệu được phép dùng</a:t>
            </a:r>
          </a:p>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và người review xác nhận nhận việc.</a:t>
            </a:r>
          </a:p>
        </p:txBody>
      </p:sp>
      <p:sp>
        <p:nvSpPr>
          <p:cNvPr id="5" name="">
            <a:extLst xmlns:a="http://schemas.openxmlformats.org/drawingml/2006/main">
              <a:ext uri="{FF2B5EF4-FFF2-40B4-BE49-F238E27FC236}">
                <a16:creationId xmlns:a16="http://schemas.microsoft.com/office/drawing/2014/main" id="{8BB140FB-2F77-4818-A2DC-0912D97CC6FF}"/>
              </a:ext>
            </a:extLst>
          </p:cNvPr>
          <p:cNvSpPr>
            <a:spLocks xmlns:a="http://schemas.openxmlformats.org/drawingml/2006/main" noGrp="1"/>
          </p:cNvSpPr>
          <p:nvPr/>
        </p:nvSpPr>
        <p:spPr>
          <a:xfrm xmlns:a="http://schemas.openxmlformats.org/drawingml/2006/main">
            <a:off x="609600" y="323850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7C9C5"/>
                </a:solidFill>
                <a:latin typeface="Arial"/>
                <a:ea typeface="Arial"/>
                <a:cs typeface="Arial"/>
              </a:defRPr>
            </a:pPr>
            <a:r>
              <a:rPr sz="1725" b="1">
                <a:solidFill>
                  <a:srgbClr val="A7C9C5"/>
                </a:solidFill>
                <a:latin typeface="Arial"/>
                <a:ea typeface="Arial"/>
                <a:cs typeface="Arial"/>
              </a:rPr>
              <a:t>PHÂN CÔNG DỰ KIẾN</a:t>
            </a:r>
          </a:p>
        </p:txBody>
      </p:sp>
      <p:sp>
        <p:nvSpPr>
          <p:cNvPr id="6" name="">
            <a:extLst xmlns:a="http://schemas.openxmlformats.org/drawingml/2006/main">
              <a:ext uri="{FF2B5EF4-FFF2-40B4-BE49-F238E27FC236}">
                <a16:creationId xmlns:a16="http://schemas.microsoft.com/office/drawing/2014/main" id="{C779605E-2111-426F-AB64-6937E82298DD}"/>
              </a:ext>
            </a:extLst>
          </p:cNvPr>
          <p:cNvSpPr>
            <a:spLocks xmlns:a="http://schemas.openxmlformats.org/drawingml/2006/main" noGrp="1"/>
          </p:cNvSpPr>
          <p:nvPr/>
        </p:nvSpPr>
        <p:spPr>
          <a:xfrm xmlns:a="http://schemas.openxmlformats.org/drawingml/2006/main">
            <a:off x="609600" y="3790950"/>
            <a:ext cx="59055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Thắng: tổng hợp và điều phối</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Hoàng Minh: nguồn dữ liệu, review</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Trọng Trịnh: workflow</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Minh Hiếu: research, chất lượng</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Gia Bảo: validation, cách đo</a:t>
            </a:r>
          </a:p>
        </p:txBody>
      </p:sp>
      <p:sp>
        <p:nvSpPr>
          <p:cNvPr id="7" name="">
            <a:extLst xmlns:a="http://schemas.openxmlformats.org/drawingml/2006/main">
              <a:ext uri="{FF2B5EF4-FFF2-40B4-BE49-F238E27FC236}">
                <a16:creationId xmlns:a16="http://schemas.microsoft.com/office/drawing/2014/main" id="{2D4E348E-8E24-450A-95E7-390E3FC2DEE1}"/>
              </a:ext>
            </a:extLst>
          </p:cNvPr>
          <p:cNvSpPr>
            <a:spLocks xmlns:a="http://schemas.openxmlformats.org/drawingml/2006/main" noGrp="1"/>
          </p:cNvSpPr>
          <p:nvPr/>
        </p:nvSpPr>
        <p:spPr>
          <a:xfrm xmlns:a="http://schemas.openxmlformats.org/drawingml/2006/main">
            <a:off x="7353300" y="323850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7C9C5"/>
                </a:solidFill>
                <a:latin typeface="Arial"/>
                <a:ea typeface="Arial"/>
                <a:cs typeface="Arial"/>
              </a:defRPr>
            </a:pPr>
            <a:r>
              <a:rPr sz="1725" b="1">
                <a:solidFill>
                  <a:srgbClr val="A7C9C5"/>
                </a:solidFill>
                <a:latin typeface="Arial"/>
                <a:ea typeface="Arial"/>
                <a:cs typeface="Arial"/>
              </a:rPr>
              <a:t>ĐIỀU KIỆN DỪNG AI</a:t>
            </a:r>
          </a:p>
        </p:txBody>
      </p:sp>
      <p:sp>
        <p:nvSpPr>
          <p:cNvPr id="8" name="">
            <a:extLst xmlns:a="http://schemas.openxmlformats.org/drawingml/2006/main">
              <a:ext uri="{FF2B5EF4-FFF2-40B4-BE49-F238E27FC236}">
                <a16:creationId xmlns:a16="http://schemas.microsoft.com/office/drawing/2014/main" id="{4C92F5A6-0016-4FF8-BFBB-C774EED7775E}"/>
              </a:ext>
            </a:extLst>
          </p:cNvPr>
          <p:cNvSpPr>
            <a:spLocks xmlns:a="http://schemas.openxmlformats.org/drawingml/2006/main" noGrp="1"/>
          </p:cNvSpPr>
          <p:nvPr/>
        </p:nvSpPr>
        <p:spPr>
          <a:xfrm xmlns:a="http://schemas.openxmlformats.org/drawingml/2006/main">
            <a:off x="7353300" y="3800475"/>
            <a:ext cx="405765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Sai nội dung hoặc thiếu nguồn</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Công review làm mất lợi ích</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Dữ liệu chưa đủ điều kiện sử dụng</a:t>
            </a:r>
          </a:p>
        </p:txBody>
      </p:sp>
      <p:sp>
        <p:nvSpPr>
          <p:cNvPr id="9" name="">
            <a:extLst xmlns:a="http://schemas.openxmlformats.org/drawingml/2006/main">
              <a:ext uri="{FF2B5EF4-FFF2-40B4-BE49-F238E27FC236}">
                <a16:creationId xmlns:a16="http://schemas.microsoft.com/office/drawing/2014/main" id="{723A10CD-F3EC-4980-A897-16F676EB689B}"/>
              </a:ext>
            </a:extLst>
          </p:cNvPr>
          <p:cNvSpPr>
            <a:spLocks xmlns:a="http://schemas.openxmlformats.org/drawingml/2006/main" noGrp="1"/>
          </p:cNvSpPr>
          <p:nvPr/>
        </p:nvSpPr>
        <p:spPr>
          <a:xfrm xmlns:a="http://schemas.openxmlformats.org/drawingml/2006/main">
            <a:off x="7353300" y="5600700"/>
            <a:ext cx="4114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67D5BE"/>
                </a:solidFill>
                <a:latin typeface="Arial"/>
                <a:ea typeface="Arial"/>
                <a:cs typeface="Arial"/>
              </a:defRPr>
            </a:pPr>
            <a:r>
              <a:rPr sz="2100" b="1">
                <a:solidFill>
                  <a:srgbClr val="67D5BE"/>
                </a:solidFill>
                <a:latin typeface="Arial"/>
                <a:ea typeface="Arial"/>
                <a:cs typeface="Arial"/>
              </a:rPr>
              <a:t>Quay về template và viết tay.</a:t>
            </a:r>
          </a:p>
        </p:txBody>
      </p:sp>
    </p:spTree>
    <p:extLst>
      <p:ext uri="{BB962C8B-B14F-4D97-AF65-F5344CB8AC3E}">
        <p14:creationId xmlns:p14="http://schemas.microsoft.com/office/powerpoint/2010/main" val="8910892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2026-09-12T04:27:48.0990000Z</dcterms:created>
  <dcterms:modified xsi:type="dcterms:W3CDTF">2026-09-12T04:27:48.0990000Z</dcterms:modified>
</coreProperties>
</file>